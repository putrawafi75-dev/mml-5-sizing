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ndahuluan" id="{0c17fa07-cf87-ffe1-2649-11268019d9a1}">
          <p14:sldIdLst>
            <p14:sldId id="256"/>
            <p14:sldId id="257"/>
          </p14:sldIdLst>
        </p14:section>
        <p14:section name="Dasar Perhitungan" id="{3da08e9d-96d9-c9cf-e9d8-5efb4f28f1c1}">
          <p14:sldIdLst>
            <p14:sldId id="258"/>
            <p14:sldId id="259"/>
            <p14:sldId id="260"/>
          </p14:sldIdLst>
        </p14:section>
        <p14:section name="Sizing Starter" id="{627d275b-3eee-6f59-2d1b-1e790a97940a}">
          <p14:sldIdLst>
            <p14:sldId id="261"/>
            <p14:sldId id="262"/>
            <p14:sldId id="263"/>
            <p14:sldId id="264"/>
          </p14:sldIdLst>
        </p14:section>
        <p14:section name="Panduan dan Kesimpulan" id="{ef81856c-342a-1869-7ea9-6201c864eef8}">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2933"/>
                </a:solidFill>
                <a:latin typeface="+mn-lt"/>
              </a:defRPr>
            </a:pPr>
            <a:r>
              <a:rPr sz="1600" b="0" i="0" u="none" strike="noStrike">
                <a:solidFill>
                  <a:srgbClr val="1F2933"/>
                </a:solidFill>
                <a:latin typeface="+mn-lt"/>
              </a:rPr>
              <a:t>Estimasi arus start motor 7,5 kW (A)</a:t>
            </a:r>
          </a:p>
        </c:rich>
      </c:tx>
      <c:layout/>
      <c:overlay val="0"/>
    </c:title>
    <c:autoTitleDeleted val="0"/>
    <c:plotArea>
      <c:layout/>
      <c:barChart>
        <c:barDir val="col"/>
        <c:grouping val="clustered"/>
        <c:varyColors val="0"/>
        <c:ser>
          <c:idx val="0"/>
          <c:order val="0"/>
          <c:tx>
            <c:strRef>
              <c:f>Sheet1!$B$1</c:f>
              <c:strCache>
                <c:ptCount val="1"/>
                <c:pt idx="0">
                  <c:v>Arus (A)</c:v>
                </c:pt>
              </c:strCache>
            </c:strRef>
          </c:tx>
          <c:spPr>
            <a:solidFill>
              <a:srgbClr val="5A6672"/>
            </a:solidFill>
            <a:effectLst/>
          </c:spPr>
          <c:invertIfNegative val="0"/>
          <c:dLbls>
            <c:numFmt formatCode="#,##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5A6672"/>
              </a:solidFill>
              <a:effectLst/>
            </c:spPr>
          </c:dPt>
          <c:dPt>
            <c:idx val="1"/>
            <c:invertIfNegative val="0"/>
            <c:bubble3D val="0"/>
            <c:spPr>
              <a:solidFill>
                <a:srgbClr val="D1495B"/>
              </a:solidFill>
              <a:effectLst/>
            </c:spPr>
          </c:dPt>
          <c:dPt>
            <c:idx val="2"/>
            <c:invertIfNegative val="0"/>
            <c:bubble3D val="0"/>
            <c:spPr>
              <a:solidFill>
                <a:srgbClr val="0F766E"/>
              </a:solidFill>
              <a:effectLst/>
            </c:spPr>
          </c:dPt>
          <c:cat>
            <c:multiLvlStrRef>
              <c:f>Sheet1!$A$2:$A$4</c:f>
              <c:multiLvlStrCache>
                <c:ptCount val="3"/>
                <c:lvl>
                  <c:pt idx="0">
                    <c:v>Beban penuh (I_FL)</c:v>
                  </c:pt>
                  <c:pt idx="1">
                    <c:v>Start DOL (≈ 7×)</c:v>
                  </c:pt>
                  <c:pt idx="2">
                    <c:v>Start star-delta (≈ 2,3×)</c:v>
                  </c:pt>
                </c:lvl>
              </c:multiLvlStrCache>
            </c:multiLvlStrRef>
          </c:cat>
          <c:val>
            <c:numRef>
              <c:f>Sheet1!$B$2:$B$4</c:f>
              <c:numCache>
                <c:formatCode>General</c:formatCode>
                <c:ptCount val="3"/>
                <c:pt idx="0">
                  <c:v>15.2</c:v>
                </c:pt>
                <c:pt idx="1">
                  <c:v>106.4</c:v>
                </c:pt>
                <c:pt idx="2">
                  <c:v>35.5</c:v>
                </c:pt>
              </c:numCache>
            </c:numRef>
          </c:val>
        </c:ser>
        <c:dLbls>
          <c:numFmt formatCode="#,##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6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Assalamualaikum. Pada video ini saya menjelaskan perhitungan dan sizing komponen sistem kontrol motor listrik: dari menghitung arus beban penuh, memilih MCB, kabel, kontaktor, dan overload relay, sampai sizing untuk starter DOL dan star-delta, lalu cheat sheet sebagai panduan cepat. Durasi sekitar 10 sampai 15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pembahasannya seperti ini: pertama langkah menghitung I_FL, kedua contoh pemilihan komponen, ketiga sizing DOL, keempat sizing star-delta, kelima cheat sheet, dan terakhir kesimpulan serta tips.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sizing berawal dari arus beban penuh, disingkat I_FL. Rumusnya: daya poros dibagi akar tiga dikali tegangan, cos phi, dan efisiensi. Langkahnya: baca nameplate, ubah daya ke watt, hitung, lalu verifikasi dengan arus nominal di nameplate. Jika nameplate mencantumkan arus, itulah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motor 3 fasa 7,5 kW, 380 volt, cos phi 0,85, efisiensi 88 persen. Daya menjadi 7.500 watt. Penyebutnya 1,732 kali 380 kali 0,85 kali 0,88 sama dengan sekitar 492,3. Hasilnya I_FL sekitar 15,2 ampere. Sebagai pengecekan cepat, motor 380 volt kira-kira 2 ampere per kW, jadi 7,5 kW sekitar 15 ampere. Hasil ini dipakai untuk semua sizing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motor 7,5 kW dengan I_FL 15,2 ampere. MCB sekitar 1,25 kali I_FL, yaitu 19 ampere, dibulatkan ke 20 ampere dengan kurva D agar tidak trip saat arus start. Kabel harus punya KHA minimal 1,25 kali I_FL dan tidak lebih kecil dari MCB: NYY 4 kali 2,5 mm persegi dengan KHA sekitar 24 ampere. Kontaktor kategori AC-3 dengan Ie minimal I_FL, yaitu 18 ampere. Overload relay dipilih dengan rentang yang mencakup 15,2 ampere dan disetel pada nilai tersebut.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starter DOL, motor langsung terhubung ke tegangan penuh. Rantai komponennya: sumber, MCB 20 ampere kurva D, kontaktor 18 ampere AC-3, overload relay 13 sampai 18 ampere yang disetel 15,2 ampere, lalu motor. Kabel NYY 4 kali 2,5 mm persegi. Konsekuensinya arus start 6 sampai 8 kali I_FL, atau sekitar 91 sampai 122 ampere, sehingga kurva D dipilih. Kelebihannya sederhana dan murah.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star-delta, motor start dalam hubungan star: tegangan belitan hanya 220 volt, arus line sekitar sepertiga I_FL, yaitu 5,1 ampere, dan torsi juga sepertiga. Setelah timer, motor pindah ke delta: tegangan belitan penuh 380 volt, arus belitan 8,8 ampere atau I_FL dibagi akar tiga, arus line 15,2 ampere. Karena itu kontaktor utama K1 dan delta K3 serta overload relay dipilih pada 0,58 kali I_FL, sedangkan kontaktor star K2 pada 0,33 kali I_FL. Syaratnya motor memiliki enam terminal dan nameplate delta 380 volt.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star-delta untuk motor 7,5 kW. I_FL 15,2 ampere. MCB tetap 20 ampere, kurva C karena arus start lebih kecil. K1 dan K3 dipilih dari 0,58 kali I_FL, yaitu 8,8 ampere, jadi 12 ampere AC-3. K2 dipilih dari 0,33 kali I_FL, yaitu 5 ampere, cukup 9 ampere. Overload relay disetel pada 8,8 ampere karena dipasang pada jalur belitan. Kabel supply 4 kali 2,5 mm persegi, kabel ke motor enam urat minimal 1,5 mm persegi. Timer star ke delta sekitar 5 sampai 10 detik dan K2 dengan K3 harus saling interlock.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arus start untuk motor 7,5 kW. Arus beban penuh 15,2 ampere. Start DOL sekitar 7 kali, yaitu 106 ampere. Star-delta mengurangi menjadi sepertiganya, sekitar 35 ampere. Konsekuensinya torsi start juga turun menjadi sekitar sepertiga, sehingga star-delta cocok untuk beban yang ringan saat start, seperti pompa atau kipas.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cheat sheet sizing. Satu halaman yang merangkum rumus untuk empat komponen, baik untuk DOL maupun star-delta. Baris I_FL adalah acuan; MCB sekitar 1,25 kali I_FL; kabel dengan KHA minimal 1,25 kali I_FL; kontaktor AC-3 minimal I_FL; overload relay disetel pada I_FL untuk DOL dan 0,58 kali I_FL untuk star-delta.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memakainya ada empat langkah. Satu, baca nameplate. Dua, tentukan I_FL. Tiga, pilih baris starter, DOL atau star-delta. Empat, bulatkan ke rating standar dan verifikasi di katalog. Contoh cepat: motor 5,5 kW, 380 volt, DOL. I_FL sekitar 11,3 ampere, MCB 16 ampere kurva D, kabel 1,5 mm persegi, kontaktor 12 ampere AC-3, dan overload relay 9 sampai 13 ampere yang disetel 11,3 ampere.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Beberapa tips dalam mendesain: mulai dari nameplate, jaga koordinasi proteksi yaitu KHA kabel lebih besar atau sama dengan MCB, MCB lebih besar atau sama dengan setelan overload relay, dan itu lebih besar atau sama dengan I_FL. Perhitungkan faktor koreksi kabel, cek drop tegangan, perhatikan siklus start, dan ikuti PUIL 2011, IEC 60947, serta katalog produsen.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Kesimpulannya: I_FL adalah dasar semua sizing. Untuk DOL, MCB sekitar 1,25 kali I_FL, kontaktor minimal I_FL, dan overload relay disetel pada I_FL. Untuk star-delta, K1, K3, dan overload relay pada 0,58 kali I_FL, K2 pada 0,33 kali I_FL. Gunakan cheat sheet sebagai panduan cepat, tetapi tetap verifikasi dengan nameplate, katalog, dan standar.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7C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731520" y="1280160"/>
            <a:ext cx="7498080" cy="27432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731520" y="4297680"/>
            <a:ext cx="7498080" cy="100584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280160"/>
            <a:ext cx="7498080" cy="2743200"/>
          </a:xfrm>
          <a:prstGeom prst="rect">
            <a:avLst/>
          </a:prstGeom>
          <a:noFill/>
          <a:ln/>
        </p:spPr>
        <p:txBody>
          <a:bodyPr wrap="square" lIns="0" tIns="0" rIns="0" bIns="0" rtlCol="0" anchor="ctr"/>
          <a:lstStyle/>
          <a:p>
            <a:pPr algn="l" indent="0" marL="0">
              <a:buNone/>
            </a:pPr>
            <a:r>
              <a:rPr lang="en-US" sz="4200" b="1" dirty="0">
                <a:solidFill>
                  <a:schemeClr val="bg1"/>
                </a:solidFill>
              </a:rPr>
              <a:t>Perhitungan dan Sizing Komponen Sistem Kontrol Motor Listrik</a:t>
            </a:r>
            <a:endParaRPr lang="en-US" sz="4200" dirty="0"/>
          </a:p>
        </p:txBody>
      </p:sp>
      <p:sp>
        <p:nvSpPr>
          <p:cNvPr id="3" name="Text 1"/>
          <p:cNvSpPr/>
          <p:nvPr>
            <p:ph idx="102" type="body" hasCustomPrompt="1"/>
          </p:nvPr>
        </p:nvSpPr>
        <p:spPr>
          <a:xfrm>
            <a:off x="731520" y="4297680"/>
            <a:ext cx="7498080" cy="1005840"/>
          </a:xfrm>
          <a:prstGeom prst="rect">
            <a:avLst/>
          </a:prstGeom>
          <a:noFill/>
          <a:ln/>
        </p:spPr>
        <p:txBody>
          <a:bodyPr wrap="square" lIns="0" tIns="0" rIns="0" bIns="0" rtlCol="0" anchor="t"/>
          <a:lstStyle/>
          <a:p>
            <a:pPr algn="l" indent="0" marL="0">
              <a:buNone/>
            </a:pPr>
            <a:r>
              <a:rPr lang="en-US" sz="2000" b="1" dirty="0">
                <a:solidFill>
                  <a:schemeClr val="accent1"/>
                </a:solidFill>
              </a:rPr>
              <a:t>Pertemuan 5 · Tugas 4</a:t>
            </a:r>
            <a:endParaRPr lang="en-US" sz="2000" dirty="0"/>
          </a:p>
          <a:p>
            <a:pPr algn="l" indent="0" marL="0">
              <a:buNone/>
            </a:pPr>
            <a:r>
              <a:rPr lang="en-US" sz="2000" dirty="0">
                <a:solidFill>
                  <a:schemeClr val="bg1"/>
                </a:solidFill>
              </a:rPr>
              <a:t>Video penjelasan 10–15 menit</a:t>
            </a:r>
            <a:endParaRPr lang="en-US" sz="2000" dirty="0"/>
          </a:p>
        </p:txBody>
      </p:sp>
      <p:sp>
        <p:nvSpPr>
          <p:cNvPr id="4" name="Petir lingkaran"/>
          <p:cNvSpPr/>
          <p:nvPr/>
        </p:nvSpPr>
        <p:spPr>
          <a:xfrm>
            <a:off x="8869680" y="1463040"/>
            <a:ext cx="2926080" cy="2926080"/>
          </a:xfrm>
          <a:prstGeom prst="ellipse">
            <a:avLst/>
          </a:prstGeom>
          <a:solidFill>
            <a:schemeClr val="accent1"/>
          </a:solidFill>
          <a:ln/>
        </p:spPr>
      </p:sp>
      <p:pic>
        <p:nvPicPr>
          <p:cNvPr id="5" name="Petir ikon" descr="Ikon Petir">    </p:cNvPr>
          <p:cNvPicPr>
            <a:picLocks noChangeAspect="1"/>
          </p:cNvPicPr>
          <p:nvPr/>
        </p:nvPicPr>
        <p:blipFill>
          <a:blip r:embed="rId1"/>
          <a:stretch>
            <a:fillRect/>
          </a:stretch>
        </p:blipFill>
        <p:spPr>
          <a:xfrm>
            <a:off x="9659722" y="2253082"/>
            <a:ext cx="1345997" cy="1345997"/>
          </a:xfrm>
          <a:prstGeom prst="rect">
            <a:avLst/>
          </a:prstGeom>
        </p:spPr>
      </p:pic>
      <p:sp>
        <p:nvSpPr>
          <p:cNvPr id="6" name="Motor lingkaran"/>
          <p:cNvSpPr/>
          <p:nvPr/>
        </p:nvSpPr>
        <p:spPr>
          <a:xfrm>
            <a:off x="8229600" y="4206240"/>
            <a:ext cx="1371600" cy="1371600"/>
          </a:xfrm>
          <a:prstGeom prst="ellipse">
            <a:avLst/>
          </a:prstGeom>
          <a:solidFill>
            <a:schemeClr val="accent2"/>
          </a:solidFill>
          <a:ln/>
        </p:spPr>
      </p:sp>
      <p:pic>
        <p:nvPicPr>
          <p:cNvPr id="7" name="Motor ikon" descr="Ikon Motor">    </p:cNvPr>
          <p:cNvPicPr>
            <a:picLocks noChangeAspect="1"/>
          </p:cNvPicPr>
          <p:nvPr/>
        </p:nvPicPr>
        <p:blipFill>
          <a:blip r:embed="rId2"/>
          <a:stretch>
            <a:fillRect/>
          </a:stretch>
        </p:blipFill>
        <p:spPr>
          <a:xfrm>
            <a:off x="8599932" y="4576572"/>
            <a:ext cx="630936" cy="630936"/>
          </a:xfrm>
          <a:prstGeom prst="rect">
            <a:avLst/>
          </a:prstGeom>
        </p:spPr>
      </p:pic>
      <p:sp>
        <p:nvSpPr>
          <p:cNvPr id="8" name="Kabel lingkaran"/>
          <p:cNvSpPr/>
          <p:nvPr/>
        </p:nvSpPr>
        <p:spPr>
          <a:xfrm>
            <a:off x="10424160" y="4480560"/>
            <a:ext cx="1097280" cy="1097280"/>
          </a:xfrm>
          <a:prstGeom prst="ellipse">
            <a:avLst/>
          </a:prstGeom>
          <a:solidFill>
            <a:schemeClr val="accent6"/>
          </a:solidFill>
          <a:ln/>
        </p:spPr>
      </p:sp>
      <p:pic>
        <p:nvPicPr>
          <p:cNvPr id="9" name="Kabel ikon" descr="Ikon Kabel">    </p:cNvPr>
          <p:cNvPicPr>
            <a:picLocks noChangeAspect="1"/>
          </p:cNvPicPr>
          <p:nvPr/>
        </p:nvPicPr>
        <p:blipFill>
          <a:blip r:embed="rId3"/>
          <a:stretch>
            <a:fillRect/>
          </a:stretch>
        </p:blipFill>
        <p:spPr>
          <a:xfrm>
            <a:off x="10720426" y="4776826"/>
            <a:ext cx="504749" cy="5047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Isi Video Penjelasan</a:t>
            </a:r>
            <a:endParaRPr lang="en-US" sz="3600" dirty="0"/>
          </a:p>
        </p:txBody>
      </p:sp>
      <p:sp>
        <p:nvSpPr>
          <p:cNvPr id="3" name="Kartu agenda 1"/>
          <p:cNvSpPr/>
          <p:nvPr/>
        </p:nvSpPr>
        <p:spPr>
          <a:xfrm>
            <a:off x="548640" y="1508760"/>
            <a:ext cx="3515258" cy="2194560"/>
          </a:xfrm>
          <a:prstGeom prst="roundRect">
            <a:avLst>
              <a:gd name="adj" fmla="val 5000"/>
            </a:avLst>
          </a:prstGeom>
          <a:solidFill>
            <a:schemeClr val="bg2"/>
          </a:solidFill>
          <a:ln/>
        </p:spPr>
      </p:sp>
      <p:sp>
        <p:nvSpPr>
          <p:cNvPr id="4" name="Agenda 1 lingkaran"/>
          <p:cNvSpPr/>
          <p:nvPr/>
        </p:nvSpPr>
        <p:spPr>
          <a:xfrm>
            <a:off x="822960" y="1783080"/>
            <a:ext cx="548640" cy="548640"/>
          </a:xfrm>
          <a:prstGeom prst="ellipse">
            <a:avLst/>
          </a:prstGeom>
          <a:solidFill>
            <a:schemeClr val="accent1"/>
          </a:solidFill>
          <a:ln/>
        </p:spPr>
      </p:sp>
      <p:sp>
        <p:nvSpPr>
          <p:cNvPr id="5" name="Agenda 1 angka"/>
          <p:cNvSpPr txBox="1"/>
          <p:nvPr/>
        </p:nvSpPr>
        <p:spPr>
          <a:xfrm>
            <a:off x="822960" y="1783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Judul agenda 1"/>
          <p:cNvSpPr txBox="1"/>
          <p:nvPr/>
        </p:nvSpPr>
        <p:spPr>
          <a:xfrm>
            <a:off x="822960" y="2514600"/>
            <a:ext cx="2966618" cy="731520"/>
          </a:xfrm>
          <a:prstGeom prst="rect">
            <a:avLst/>
          </a:prstGeom>
          <a:noFill/>
          <a:ln/>
        </p:spPr>
        <p:txBody>
          <a:bodyPr wrap="square" lIns="0" tIns="0" rIns="0" bIns="0" rtlCol="0" anchor="t"/>
          <a:lstStyle/>
          <a:p>
            <a:pPr indent="0" marL="0">
              <a:buNone/>
            </a:pPr>
            <a:r>
              <a:rPr lang="en-US" sz="1800" b="1" dirty="0">
                <a:solidFill>
                  <a:schemeClr val="tx1"/>
                </a:solidFill>
              </a:rPr>
              <a:t>Langkah menghitung I_FL</a:t>
            </a:r>
            <a:endParaRPr lang="en-US" sz="1800" dirty="0"/>
          </a:p>
        </p:txBody>
      </p:sp>
      <p:sp>
        <p:nvSpPr>
          <p:cNvPr id="7" name="Durasi agenda 1"/>
          <p:cNvSpPr txBox="1"/>
          <p:nvPr/>
        </p:nvSpPr>
        <p:spPr>
          <a:xfrm>
            <a:off x="822960" y="3246120"/>
            <a:ext cx="2966618" cy="274320"/>
          </a:xfrm>
          <a:prstGeom prst="rect">
            <a:avLst/>
          </a:prstGeom>
          <a:noFill/>
          <a:ln/>
        </p:spPr>
        <p:txBody>
          <a:bodyPr wrap="square" lIns="0" tIns="0" rIns="0" bIns="0" rtlCol="0" anchor="t"/>
          <a:lstStyle/>
          <a:p>
            <a:pPr indent="0" marL="0">
              <a:buNone/>
            </a:pPr>
            <a:r>
              <a:rPr lang="en-US" sz="1300" b="1" dirty="0">
                <a:solidFill>
                  <a:schemeClr val="accent2"/>
                </a:solidFill>
              </a:rPr>
              <a:t>± 2 menit</a:t>
            </a:r>
            <a:endParaRPr lang="en-US" sz="1300" dirty="0"/>
          </a:p>
        </p:txBody>
      </p:sp>
      <p:sp>
        <p:nvSpPr>
          <p:cNvPr id="8" name="Kartu agenda 2"/>
          <p:cNvSpPr/>
          <p:nvPr/>
        </p:nvSpPr>
        <p:spPr>
          <a:xfrm>
            <a:off x="4338218" y="1508760"/>
            <a:ext cx="3515258" cy="2194560"/>
          </a:xfrm>
          <a:prstGeom prst="roundRect">
            <a:avLst>
              <a:gd name="adj" fmla="val 5000"/>
            </a:avLst>
          </a:prstGeom>
          <a:solidFill>
            <a:schemeClr val="bg2"/>
          </a:solidFill>
          <a:ln/>
        </p:spPr>
      </p:sp>
      <p:sp>
        <p:nvSpPr>
          <p:cNvPr id="9" name="Agenda 2 lingkaran"/>
          <p:cNvSpPr/>
          <p:nvPr/>
        </p:nvSpPr>
        <p:spPr>
          <a:xfrm>
            <a:off x="4612538" y="1783080"/>
            <a:ext cx="548640" cy="548640"/>
          </a:xfrm>
          <a:prstGeom prst="ellipse">
            <a:avLst/>
          </a:prstGeom>
          <a:solidFill>
            <a:schemeClr val="accent1"/>
          </a:solidFill>
          <a:ln/>
        </p:spPr>
      </p:sp>
      <p:sp>
        <p:nvSpPr>
          <p:cNvPr id="10" name="Agenda 2 angka"/>
          <p:cNvSpPr txBox="1"/>
          <p:nvPr/>
        </p:nvSpPr>
        <p:spPr>
          <a:xfrm>
            <a:off x="4612538" y="1783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Judul agenda 2"/>
          <p:cNvSpPr txBox="1"/>
          <p:nvPr/>
        </p:nvSpPr>
        <p:spPr>
          <a:xfrm>
            <a:off x="4612538" y="2514600"/>
            <a:ext cx="2966618" cy="731520"/>
          </a:xfrm>
          <a:prstGeom prst="rect">
            <a:avLst/>
          </a:prstGeom>
          <a:noFill/>
          <a:ln/>
        </p:spPr>
        <p:txBody>
          <a:bodyPr wrap="square" lIns="0" tIns="0" rIns="0" bIns="0" rtlCol="0" anchor="t"/>
          <a:lstStyle/>
          <a:p>
            <a:pPr indent="0" marL="0">
              <a:buNone/>
            </a:pPr>
            <a:r>
              <a:rPr lang="en-US" sz="1800" b="1" dirty="0">
                <a:solidFill>
                  <a:schemeClr val="tx1"/>
                </a:solidFill>
              </a:rPr>
              <a:t>Memilih MCB, kabel, kontaktor, dan OLR</a:t>
            </a:r>
            <a:endParaRPr lang="en-US" sz="1800" dirty="0"/>
          </a:p>
        </p:txBody>
      </p:sp>
      <p:sp>
        <p:nvSpPr>
          <p:cNvPr id="12" name="Durasi agenda 2"/>
          <p:cNvSpPr txBox="1"/>
          <p:nvPr/>
        </p:nvSpPr>
        <p:spPr>
          <a:xfrm>
            <a:off x="4612538" y="3246120"/>
            <a:ext cx="2966618" cy="274320"/>
          </a:xfrm>
          <a:prstGeom prst="rect">
            <a:avLst/>
          </a:prstGeom>
          <a:noFill/>
          <a:ln/>
        </p:spPr>
        <p:txBody>
          <a:bodyPr wrap="square" lIns="0" tIns="0" rIns="0" bIns="0" rtlCol="0" anchor="t"/>
          <a:lstStyle/>
          <a:p>
            <a:pPr indent="0" marL="0">
              <a:buNone/>
            </a:pPr>
            <a:r>
              <a:rPr lang="en-US" sz="1300" b="1" dirty="0">
                <a:solidFill>
                  <a:schemeClr val="accent2"/>
                </a:solidFill>
              </a:rPr>
              <a:t>± 3 menit</a:t>
            </a:r>
            <a:endParaRPr lang="en-US" sz="1300" dirty="0"/>
          </a:p>
        </p:txBody>
      </p:sp>
      <p:sp>
        <p:nvSpPr>
          <p:cNvPr id="13" name="Kartu agenda 3"/>
          <p:cNvSpPr/>
          <p:nvPr/>
        </p:nvSpPr>
        <p:spPr>
          <a:xfrm>
            <a:off x="8127797" y="1508760"/>
            <a:ext cx="3515258" cy="2194560"/>
          </a:xfrm>
          <a:prstGeom prst="roundRect">
            <a:avLst>
              <a:gd name="adj" fmla="val 5000"/>
            </a:avLst>
          </a:prstGeom>
          <a:solidFill>
            <a:schemeClr val="bg2"/>
          </a:solidFill>
          <a:ln/>
        </p:spPr>
      </p:sp>
      <p:sp>
        <p:nvSpPr>
          <p:cNvPr id="14" name="Agenda 3 lingkaran"/>
          <p:cNvSpPr/>
          <p:nvPr/>
        </p:nvSpPr>
        <p:spPr>
          <a:xfrm>
            <a:off x="8402117" y="1783080"/>
            <a:ext cx="548640" cy="548640"/>
          </a:xfrm>
          <a:prstGeom prst="ellipse">
            <a:avLst/>
          </a:prstGeom>
          <a:solidFill>
            <a:schemeClr val="accent1"/>
          </a:solidFill>
          <a:ln/>
        </p:spPr>
      </p:sp>
      <p:sp>
        <p:nvSpPr>
          <p:cNvPr id="15" name="Agenda 3 angka"/>
          <p:cNvSpPr txBox="1"/>
          <p:nvPr/>
        </p:nvSpPr>
        <p:spPr>
          <a:xfrm>
            <a:off x="8402117" y="1783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Judul agenda 3"/>
          <p:cNvSpPr txBox="1"/>
          <p:nvPr/>
        </p:nvSpPr>
        <p:spPr>
          <a:xfrm>
            <a:off x="8402117" y="2514600"/>
            <a:ext cx="2966618" cy="731520"/>
          </a:xfrm>
          <a:prstGeom prst="rect">
            <a:avLst/>
          </a:prstGeom>
          <a:noFill/>
          <a:ln/>
        </p:spPr>
        <p:txBody>
          <a:bodyPr wrap="square" lIns="0" tIns="0" rIns="0" bIns="0" rtlCol="0" anchor="t"/>
          <a:lstStyle/>
          <a:p>
            <a:pPr indent="0" marL="0">
              <a:buNone/>
            </a:pPr>
            <a:r>
              <a:rPr lang="en-US" sz="1800" b="1" dirty="0">
                <a:solidFill>
                  <a:schemeClr val="tx1"/>
                </a:solidFill>
              </a:rPr>
              <a:t>Sizing starter DOL</a:t>
            </a:r>
            <a:endParaRPr lang="en-US" sz="1800" dirty="0"/>
          </a:p>
        </p:txBody>
      </p:sp>
      <p:sp>
        <p:nvSpPr>
          <p:cNvPr id="17" name="Durasi agenda 3"/>
          <p:cNvSpPr txBox="1"/>
          <p:nvPr/>
        </p:nvSpPr>
        <p:spPr>
          <a:xfrm>
            <a:off x="8402117" y="3246120"/>
            <a:ext cx="2966618" cy="274320"/>
          </a:xfrm>
          <a:prstGeom prst="rect">
            <a:avLst/>
          </a:prstGeom>
          <a:noFill/>
          <a:ln/>
        </p:spPr>
        <p:txBody>
          <a:bodyPr wrap="square" lIns="0" tIns="0" rIns="0" bIns="0" rtlCol="0" anchor="t"/>
          <a:lstStyle/>
          <a:p>
            <a:pPr indent="0" marL="0">
              <a:buNone/>
            </a:pPr>
            <a:r>
              <a:rPr lang="en-US" sz="1300" b="1" dirty="0">
                <a:solidFill>
                  <a:schemeClr val="accent2"/>
                </a:solidFill>
              </a:rPr>
              <a:t>± 2 menit</a:t>
            </a:r>
            <a:endParaRPr lang="en-US" sz="1300" dirty="0"/>
          </a:p>
        </p:txBody>
      </p:sp>
      <p:sp>
        <p:nvSpPr>
          <p:cNvPr id="18" name="Kartu agenda 4"/>
          <p:cNvSpPr/>
          <p:nvPr/>
        </p:nvSpPr>
        <p:spPr>
          <a:xfrm>
            <a:off x="548640" y="3977640"/>
            <a:ext cx="3515258" cy="2194560"/>
          </a:xfrm>
          <a:prstGeom prst="roundRect">
            <a:avLst>
              <a:gd name="adj" fmla="val 5000"/>
            </a:avLst>
          </a:prstGeom>
          <a:solidFill>
            <a:schemeClr val="bg2"/>
          </a:solidFill>
          <a:ln/>
        </p:spPr>
      </p:sp>
      <p:sp>
        <p:nvSpPr>
          <p:cNvPr id="19" name="Agenda 4 lingkaran"/>
          <p:cNvSpPr/>
          <p:nvPr/>
        </p:nvSpPr>
        <p:spPr>
          <a:xfrm>
            <a:off x="822960" y="4251960"/>
            <a:ext cx="548640" cy="548640"/>
          </a:xfrm>
          <a:prstGeom prst="ellipse">
            <a:avLst/>
          </a:prstGeom>
          <a:solidFill>
            <a:schemeClr val="accent1"/>
          </a:solidFill>
          <a:ln/>
        </p:spPr>
      </p:sp>
      <p:sp>
        <p:nvSpPr>
          <p:cNvPr id="20" name="Agenda 4 angka"/>
          <p:cNvSpPr txBox="1"/>
          <p:nvPr/>
        </p:nvSpPr>
        <p:spPr>
          <a:xfrm>
            <a:off x="822960" y="42519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1" name="Judul agenda 4"/>
          <p:cNvSpPr txBox="1"/>
          <p:nvPr/>
        </p:nvSpPr>
        <p:spPr>
          <a:xfrm>
            <a:off x="822960" y="4983480"/>
            <a:ext cx="2966618" cy="731520"/>
          </a:xfrm>
          <a:prstGeom prst="rect">
            <a:avLst/>
          </a:prstGeom>
          <a:noFill/>
          <a:ln/>
        </p:spPr>
        <p:txBody>
          <a:bodyPr wrap="square" lIns="0" tIns="0" rIns="0" bIns="0" rtlCol="0" anchor="t"/>
          <a:lstStyle/>
          <a:p>
            <a:pPr indent="0" marL="0">
              <a:buNone/>
            </a:pPr>
            <a:r>
              <a:rPr lang="en-US" sz="1800" b="1" dirty="0">
                <a:solidFill>
                  <a:schemeClr val="tx1"/>
                </a:solidFill>
              </a:rPr>
              <a:t>Sizing rangkaian star-delta</a:t>
            </a:r>
            <a:endParaRPr lang="en-US" sz="1800" dirty="0"/>
          </a:p>
        </p:txBody>
      </p:sp>
      <p:sp>
        <p:nvSpPr>
          <p:cNvPr id="22" name="Durasi agenda 4"/>
          <p:cNvSpPr txBox="1"/>
          <p:nvPr/>
        </p:nvSpPr>
        <p:spPr>
          <a:xfrm>
            <a:off x="822960" y="5715000"/>
            <a:ext cx="2966618" cy="274320"/>
          </a:xfrm>
          <a:prstGeom prst="rect">
            <a:avLst/>
          </a:prstGeom>
          <a:noFill/>
          <a:ln/>
        </p:spPr>
        <p:txBody>
          <a:bodyPr wrap="square" lIns="0" tIns="0" rIns="0" bIns="0" rtlCol="0" anchor="t"/>
          <a:lstStyle/>
          <a:p>
            <a:pPr indent="0" marL="0">
              <a:buNone/>
            </a:pPr>
            <a:r>
              <a:rPr lang="en-US" sz="1300" b="1" dirty="0">
                <a:solidFill>
                  <a:schemeClr val="accent2"/>
                </a:solidFill>
              </a:rPr>
              <a:t>± 3 menit</a:t>
            </a:r>
            <a:endParaRPr lang="en-US" sz="1300" dirty="0"/>
          </a:p>
        </p:txBody>
      </p:sp>
      <p:sp>
        <p:nvSpPr>
          <p:cNvPr id="23" name="Kartu agenda 5"/>
          <p:cNvSpPr/>
          <p:nvPr/>
        </p:nvSpPr>
        <p:spPr>
          <a:xfrm>
            <a:off x="4338218" y="3977640"/>
            <a:ext cx="3515258" cy="2194560"/>
          </a:xfrm>
          <a:prstGeom prst="roundRect">
            <a:avLst>
              <a:gd name="adj" fmla="val 5000"/>
            </a:avLst>
          </a:prstGeom>
          <a:solidFill>
            <a:schemeClr val="bg2"/>
          </a:solidFill>
          <a:ln/>
        </p:spPr>
      </p:sp>
      <p:sp>
        <p:nvSpPr>
          <p:cNvPr id="24" name="Agenda 5 lingkaran"/>
          <p:cNvSpPr/>
          <p:nvPr/>
        </p:nvSpPr>
        <p:spPr>
          <a:xfrm>
            <a:off x="4612538" y="4251960"/>
            <a:ext cx="548640" cy="548640"/>
          </a:xfrm>
          <a:prstGeom prst="ellipse">
            <a:avLst/>
          </a:prstGeom>
          <a:solidFill>
            <a:schemeClr val="accent1"/>
          </a:solidFill>
          <a:ln/>
        </p:spPr>
      </p:sp>
      <p:sp>
        <p:nvSpPr>
          <p:cNvPr id="25" name="Agenda 5 angka"/>
          <p:cNvSpPr txBox="1"/>
          <p:nvPr/>
        </p:nvSpPr>
        <p:spPr>
          <a:xfrm>
            <a:off x="4612538" y="42519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6" name="Judul agenda 5"/>
          <p:cNvSpPr txBox="1"/>
          <p:nvPr/>
        </p:nvSpPr>
        <p:spPr>
          <a:xfrm>
            <a:off x="4612538" y="4983480"/>
            <a:ext cx="2966618" cy="731520"/>
          </a:xfrm>
          <a:prstGeom prst="rect">
            <a:avLst/>
          </a:prstGeom>
          <a:noFill/>
          <a:ln/>
        </p:spPr>
        <p:txBody>
          <a:bodyPr wrap="square" lIns="0" tIns="0" rIns="0" bIns="0" rtlCol="0" anchor="t"/>
          <a:lstStyle/>
          <a:p>
            <a:pPr indent="0" marL="0">
              <a:buNone/>
            </a:pPr>
            <a:r>
              <a:rPr lang="en-US" sz="1800" b="1" dirty="0">
                <a:solidFill>
                  <a:schemeClr val="tx1"/>
                </a:solidFill>
              </a:rPr>
              <a:t>Cheat sheet sizing sebagai panduan cepat</a:t>
            </a:r>
            <a:endParaRPr lang="en-US" sz="1800" dirty="0"/>
          </a:p>
        </p:txBody>
      </p:sp>
      <p:sp>
        <p:nvSpPr>
          <p:cNvPr id="27" name="Durasi agenda 5"/>
          <p:cNvSpPr txBox="1"/>
          <p:nvPr/>
        </p:nvSpPr>
        <p:spPr>
          <a:xfrm>
            <a:off x="4612538" y="5715000"/>
            <a:ext cx="2966618" cy="274320"/>
          </a:xfrm>
          <a:prstGeom prst="rect">
            <a:avLst/>
          </a:prstGeom>
          <a:noFill/>
          <a:ln/>
        </p:spPr>
        <p:txBody>
          <a:bodyPr wrap="square" lIns="0" tIns="0" rIns="0" bIns="0" rtlCol="0" anchor="t"/>
          <a:lstStyle/>
          <a:p>
            <a:pPr indent="0" marL="0">
              <a:buNone/>
            </a:pPr>
            <a:r>
              <a:rPr lang="en-US" sz="1300" b="1" dirty="0">
                <a:solidFill>
                  <a:schemeClr val="accent2"/>
                </a:solidFill>
              </a:rPr>
              <a:t>± 2 menit</a:t>
            </a:r>
            <a:endParaRPr lang="en-US" sz="1300" dirty="0"/>
          </a:p>
        </p:txBody>
      </p:sp>
      <p:sp>
        <p:nvSpPr>
          <p:cNvPr id="28" name="Kartu agenda 6"/>
          <p:cNvSpPr/>
          <p:nvPr/>
        </p:nvSpPr>
        <p:spPr>
          <a:xfrm>
            <a:off x="8127797" y="3977640"/>
            <a:ext cx="3515258" cy="2194560"/>
          </a:xfrm>
          <a:prstGeom prst="roundRect">
            <a:avLst>
              <a:gd name="adj" fmla="val 5000"/>
            </a:avLst>
          </a:prstGeom>
          <a:solidFill>
            <a:schemeClr val="bg2"/>
          </a:solidFill>
          <a:ln/>
        </p:spPr>
      </p:sp>
      <p:sp>
        <p:nvSpPr>
          <p:cNvPr id="29" name="Agenda 6 lingkaran"/>
          <p:cNvSpPr/>
          <p:nvPr/>
        </p:nvSpPr>
        <p:spPr>
          <a:xfrm>
            <a:off x="8402117" y="4251960"/>
            <a:ext cx="548640" cy="548640"/>
          </a:xfrm>
          <a:prstGeom prst="ellipse">
            <a:avLst/>
          </a:prstGeom>
          <a:solidFill>
            <a:schemeClr val="accent1"/>
          </a:solidFill>
          <a:ln/>
        </p:spPr>
      </p:sp>
      <p:sp>
        <p:nvSpPr>
          <p:cNvPr id="30" name="Agenda 6 angka"/>
          <p:cNvSpPr txBox="1"/>
          <p:nvPr/>
        </p:nvSpPr>
        <p:spPr>
          <a:xfrm>
            <a:off x="8402117" y="42519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31" name="Judul agenda 6"/>
          <p:cNvSpPr txBox="1"/>
          <p:nvPr/>
        </p:nvSpPr>
        <p:spPr>
          <a:xfrm>
            <a:off x="8402117" y="4983480"/>
            <a:ext cx="2966618" cy="731520"/>
          </a:xfrm>
          <a:prstGeom prst="rect">
            <a:avLst/>
          </a:prstGeom>
          <a:noFill/>
          <a:ln/>
        </p:spPr>
        <p:txBody>
          <a:bodyPr wrap="square" lIns="0" tIns="0" rIns="0" bIns="0" rtlCol="0" anchor="t"/>
          <a:lstStyle/>
          <a:p>
            <a:pPr indent="0" marL="0">
              <a:buNone/>
            </a:pPr>
            <a:r>
              <a:rPr lang="en-US" sz="1800" b="1" dirty="0">
                <a:solidFill>
                  <a:schemeClr val="tx1"/>
                </a:solidFill>
              </a:rPr>
              <a:t>Kesimpulan dan tips desain</a:t>
            </a:r>
            <a:endParaRPr lang="en-US" sz="1800" dirty="0"/>
          </a:p>
        </p:txBody>
      </p:sp>
      <p:sp>
        <p:nvSpPr>
          <p:cNvPr id="32" name="Durasi agenda 6"/>
          <p:cNvSpPr txBox="1"/>
          <p:nvPr/>
        </p:nvSpPr>
        <p:spPr>
          <a:xfrm>
            <a:off x="8402117" y="5715000"/>
            <a:ext cx="2966618" cy="274320"/>
          </a:xfrm>
          <a:prstGeom prst="rect">
            <a:avLst/>
          </a:prstGeom>
          <a:noFill/>
          <a:ln/>
        </p:spPr>
        <p:txBody>
          <a:bodyPr wrap="square" lIns="0" tIns="0" rIns="0" bIns="0" rtlCol="0" anchor="t"/>
          <a:lstStyle/>
          <a:p>
            <a:pPr indent="0" marL="0">
              <a:buNone/>
            </a:pPr>
            <a:r>
              <a:rPr lang="en-US" sz="1300" b="1" dirty="0">
                <a:solidFill>
                  <a:schemeClr val="accent2"/>
                </a:solidFill>
              </a:rPr>
              <a:t>± 1,5 menit</a:t>
            </a:r>
            <a:endParaRPr lang="en-US" sz="13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Menghitung Arus Beban Penuh (I_FL)</a:t>
            </a:r>
            <a:endParaRPr lang="en-US" sz="3600" dirty="0"/>
          </a:p>
        </p:txBody>
      </p:sp>
      <p:sp>
        <p:nvSpPr>
          <p:cNvPr id="3" name="Kartu rumus"/>
          <p:cNvSpPr/>
          <p:nvPr/>
        </p:nvSpPr>
        <p:spPr>
          <a:xfrm>
            <a:off x="548640" y="1463040"/>
            <a:ext cx="11094415" cy="1737360"/>
          </a:xfrm>
          <a:prstGeom prst="roundRect">
            <a:avLst>
              <a:gd name="adj" fmla="val 6316"/>
            </a:avLst>
          </a:prstGeom>
          <a:solidFill>
            <a:schemeClr val="tx1"/>
          </a:solidFill>
          <a:ln/>
        </p:spPr>
      </p:sp>
      <p:sp>
        <p:nvSpPr>
          <p:cNvPr id="4" name="Rumus I_FL"/>
          <p:cNvSpPr txBox="1"/>
          <p:nvPr/>
        </p:nvSpPr>
        <p:spPr>
          <a:xfrm>
            <a:off x="548640" y="1627632"/>
            <a:ext cx="11094415" cy="731520"/>
          </a:xfrm>
          <a:prstGeom prst="rect">
            <a:avLst/>
          </a:prstGeom>
          <a:noFill/>
          <a:ln/>
        </p:spPr>
        <p:txBody>
          <a:bodyPr wrap="square" lIns="0" tIns="0" rIns="0" bIns="0" rtlCol="0" anchor="ctr"/>
          <a:lstStyle/>
          <a:p>
            <a:pPr algn="ctr" indent="0" marL="0">
              <a:buNone/>
            </a:pPr>
            <a:r>
              <a:rPr lang="en-US" sz="3400" b="1" dirty="0">
                <a:solidFill>
                  <a:schemeClr val="bg1"/>
                </a:solidFill>
              </a:rPr>
              <a:t>I_FL = P / (√3 × V × cos φ × η)</a:t>
            </a:r>
            <a:endParaRPr lang="en-US" sz="3400" dirty="0"/>
          </a:p>
        </p:txBody>
      </p:sp>
      <p:sp>
        <p:nvSpPr>
          <p:cNvPr id="5" name="Keterangan rumus"/>
          <p:cNvSpPr txBox="1"/>
          <p:nvPr/>
        </p:nvSpPr>
        <p:spPr>
          <a:xfrm>
            <a:off x="548640" y="2468880"/>
            <a:ext cx="11094415" cy="365760"/>
          </a:xfrm>
          <a:prstGeom prst="rect">
            <a:avLst/>
          </a:prstGeom>
          <a:noFill/>
          <a:ln/>
        </p:spPr>
        <p:txBody>
          <a:bodyPr wrap="square" lIns="0" tIns="0" rIns="0" bIns="0" rtlCol="0" anchor="t"/>
          <a:lstStyle/>
          <a:p>
            <a:pPr algn="ctr" indent="0" marL="0">
              <a:buNone/>
            </a:pPr>
            <a:r>
              <a:rPr lang="en-US" sz="1500" dirty="0">
                <a:solidFill>
                  <a:schemeClr val="accent6"/>
                </a:solidFill>
              </a:rPr>
              <a:t>P = daya poros (W)   ·   V = tegangan line-line (V)   ·   cos φ = faktor daya   ·   η = efisiensi</a:t>
            </a:r>
            <a:endParaRPr lang="en-US" sz="1500" dirty="0"/>
          </a:p>
        </p:txBody>
      </p:sp>
      <p:sp>
        <p:nvSpPr>
          <p:cNvPr id="6" name="Kartu langkah 1"/>
          <p:cNvSpPr/>
          <p:nvPr/>
        </p:nvSpPr>
        <p:spPr>
          <a:xfrm>
            <a:off x="548640" y="3474720"/>
            <a:ext cx="2567864" cy="2651760"/>
          </a:xfrm>
          <a:prstGeom prst="roundRect">
            <a:avLst>
              <a:gd name="adj" fmla="val 4273"/>
            </a:avLst>
          </a:prstGeom>
          <a:solidFill>
            <a:schemeClr val="bg2"/>
          </a:solidFill>
          <a:ln/>
        </p:spPr>
      </p:sp>
      <p:sp>
        <p:nvSpPr>
          <p:cNvPr id="7" name="Langkah 1 lingkaran"/>
          <p:cNvSpPr/>
          <p:nvPr/>
        </p:nvSpPr>
        <p:spPr>
          <a:xfrm>
            <a:off x="777240" y="3703320"/>
            <a:ext cx="548640" cy="548640"/>
          </a:xfrm>
          <a:prstGeom prst="ellipse">
            <a:avLst/>
          </a:prstGeom>
          <a:solidFill>
            <a:schemeClr val="accent1"/>
          </a:solidFill>
          <a:ln/>
        </p:spPr>
      </p:sp>
      <p:sp>
        <p:nvSpPr>
          <p:cNvPr id="8" name="Langkah 1 angka"/>
          <p:cNvSpPr txBox="1"/>
          <p:nvPr/>
        </p:nvSpPr>
        <p:spPr>
          <a:xfrm>
            <a:off x="777240" y="37033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9" name="Judul langkah 1"/>
          <p:cNvSpPr txBox="1"/>
          <p:nvPr/>
        </p:nvSpPr>
        <p:spPr>
          <a:xfrm>
            <a:off x="777240" y="4434840"/>
            <a:ext cx="2110664" cy="640080"/>
          </a:xfrm>
          <a:prstGeom prst="rect">
            <a:avLst/>
          </a:prstGeom>
          <a:noFill/>
          <a:ln/>
        </p:spPr>
        <p:txBody>
          <a:bodyPr wrap="square" lIns="0" tIns="0" rIns="0" bIns="0" rtlCol="0" anchor="t"/>
          <a:lstStyle/>
          <a:p>
            <a:pPr indent="0" marL="0">
              <a:buNone/>
            </a:pPr>
            <a:r>
              <a:rPr lang="en-US" sz="1800" b="1" dirty="0">
                <a:solidFill>
                  <a:schemeClr val="tx1"/>
                </a:solidFill>
              </a:rPr>
              <a:t>Baca nameplate</a:t>
            </a:r>
            <a:endParaRPr lang="en-US" sz="1800" dirty="0"/>
          </a:p>
        </p:txBody>
      </p:sp>
      <p:sp>
        <p:nvSpPr>
          <p:cNvPr id="10" name="Isi langkah 1"/>
          <p:cNvSpPr txBox="1"/>
          <p:nvPr/>
        </p:nvSpPr>
        <p:spPr>
          <a:xfrm>
            <a:off x="777240" y="5029200"/>
            <a:ext cx="2110664" cy="914400"/>
          </a:xfrm>
          <a:prstGeom prst="rect">
            <a:avLst/>
          </a:prstGeom>
          <a:noFill/>
          <a:ln/>
        </p:spPr>
        <p:txBody>
          <a:bodyPr wrap="square" lIns="0" tIns="0" rIns="0" bIns="0" rtlCol="0" anchor="t"/>
          <a:lstStyle/>
          <a:p>
            <a:pPr indent="0" marL="0">
              <a:buNone/>
            </a:pPr>
            <a:r>
              <a:rPr lang="en-US" sz="1400" dirty="0">
                <a:solidFill>
                  <a:schemeClr val="tx1"/>
                </a:solidFill>
              </a:rPr>
              <a:t>Catat daya (kW), tegangan, cos φ, dan efisiensi motor.</a:t>
            </a:r>
            <a:endParaRPr lang="en-US" sz="1400" dirty="0"/>
          </a:p>
        </p:txBody>
      </p:sp>
      <p:sp>
        <p:nvSpPr>
          <p:cNvPr id="11" name="Kartu langkah 2"/>
          <p:cNvSpPr/>
          <p:nvPr/>
        </p:nvSpPr>
        <p:spPr>
          <a:xfrm>
            <a:off x="3390824" y="3474720"/>
            <a:ext cx="2567864" cy="2651760"/>
          </a:xfrm>
          <a:prstGeom prst="roundRect">
            <a:avLst>
              <a:gd name="adj" fmla="val 4273"/>
            </a:avLst>
          </a:prstGeom>
          <a:solidFill>
            <a:schemeClr val="bg2"/>
          </a:solidFill>
          <a:ln/>
        </p:spPr>
      </p:sp>
      <p:sp>
        <p:nvSpPr>
          <p:cNvPr id="12" name="Langkah 2 lingkaran"/>
          <p:cNvSpPr/>
          <p:nvPr/>
        </p:nvSpPr>
        <p:spPr>
          <a:xfrm>
            <a:off x="3619424" y="3703320"/>
            <a:ext cx="548640" cy="548640"/>
          </a:xfrm>
          <a:prstGeom prst="ellipse">
            <a:avLst/>
          </a:prstGeom>
          <a:solidFill>
            <a:schemeClr val="accent1"/>
          </a:solidFill>
          <a:ln/>
        </p:spPr>
      </p:sp>
      <p:sp>
        <p:nvSpPr>
          <p:cNvPr id="13" name="Langkah 2 angka"/>
          <p:cNvSpPr txBox="1"/>
          <p:nvPr/>
        </p:nvSpPr>
        <p:spPr>
          <a:xfrm>
            <a:off x="3619424" y="37033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4" name="Judul langkah 2"/>
          <p:cNvSpPr txBox="1"/>
          <p:nvPr/>
        </p:nvSpPr>
        <p:spPr>
          <a:xfrm>
            <a:off x="3619424" y="4434840"/>
            <a:ext cx="2110664" cy="640080"/>
          </a:xfrm>
          <a:prstGeom prst="rect">
            <a:avLst/>
          </a:prstGeom>
          <a:noFill/>
          <a:ln/>
        </p:spPr>
        <p:txBody>
          <a:bodyPr wrap="square" lIns="0" tIns="0" rIns="0" bIns="0" rtlCol="0" anchor="t"/>
          <a:lstStyle/>
          <a:p>
            <a:pPr indent="0" marL="0">
              <a:buNone/>
            </a:pPr>
            <a:r>
              <a:rPr lang="en-US" sz="1800" b="1" dirty="0">
                <a:solidFill>
                  <a:schemeClr val="tx1"/>
                </a:solidFill>
              </a:rPr>
              <a:t>Ubah satuan</a:t>
            </a:r>
            <a:endParaRPr lang="en-US" sz="1800" dirty="0"/>
          </a:p>
        </p:txBody>
      </p:sp>
      <p:sp>
        <p:nvSpPr>
          <p:cNvPr id="15" name="Isi langkah 2"/>
          <p:cNvSpPr txBox="1"/>
          <p:nvPr/>
        </p:nvSpPr>
        <p:spPr>
          <a:xfrm>
            <a:off x="3619424" y="5029200"/>
            <a:ext cx="2110664" cy="914400"/>
          </a:xfrm>
          <a:prstGeom prst="rect">
            <a:avLst/>
          </a:prstGeom>
          <a:noFill/>
          <a:ln/>
        </p:spPr>
        <p:txBody>
          <a:bodyPr wrap="square" lIns="0" tIns="0" rIns="0" bIns="0" rtlCol="0" anchor="t"/>
          <a:lstStyle/>
          <a:p>
            <a:pPr indent="0" marL="0">
              <a:buNone/>
            </a:pPr>
            <a:r>
              <a:rPr lang="en-US" sz="1400" dirty="0">
                <a:solidFill>
                  <a:schemeClr val="tx1"/>
                </a:solidFill>
              </a:rPr>
              <a:t>Daya kW × 1.000 = W; tegangan memakai nilai line-line.</a:t>
            </a:r>
            <a:endParaRPr lang="en-US" sz="1400" dirty="0"/>
          </a:p>
        </p:txBody>
      </p:sp>
      <p:sp>
        <p:nvSpPr>
          <p:cNvPr id="16" name="Kartu langkah 3"/>
          <p:cNvSpPr/>
          <p:nvPr/>
        </p:nvSpPr>
        <p:spPr>
          <a:xfrm>
            <a:off x="6233008" y="3474720"/>
            <a:ext cx="2567864" cy="2651760"/>
          </a:xfrm>
          <a:prstGeom prst="roundRect">
            <a:avLst>
              <a:gd name="adj" fmla="val 4273"/>
            </a:avLst>
          </a:prstGeom>
          <a:solidFill>
            <a:schemeClr val="bg2"/>
          </a:solidFill>
          <a:ln/>
        </p:spPr>
      </p:sp>
      <p:sp>
        <p:nvSpPr>
          <p:cNvPr id="17" name="Langkah 3 lingkaran"/>
          <p:cNvSpPr/>
          <p:nvPr/>
        </p:nvSpPr>
        <p:spPr>
          <a:xfrm>
            <a:off x="6461608" y="3703320"/>
            <a:ext cx="548640" cy="548640"/>
          </a:xfrm>
          <a:prstGeom prst="ellipse">
            <a:avLst/>
          </a:prstGeom>
          <a:solidFill>
            <a:schemeClr val="accent1"/>
          </a:solidFill>
          <a:ln/>
        </p:spPr>
      </p:sp>
      <p:sp>
        <p:nvSpPr>
          <p:cNvPr id="18" name="Langkah 3 angka"/>
          <p:cNvSpPr txBox="1"/>
          <p:nvPr/>
        </p:nvSpPr>
        <p:spPr>
          <a:xfrm>
            <a:off x="6461608" y="37033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Judul langkah 3"/>
          <p:cNvSpPr txBox="1"/>
          <p:nvPr/>
        </p:nvSpPr>
        <p:spPr>
          <a:xfrm>
            <a:off x="6461608" y="4434840"/>
            <a:ext cx="2110664" cy="640080"/>
          </a:xfrm>
          <a:prstGeom prst="rect">
            <a:avLst/>
          </a:prstGeom>
          <a:noFill/>
          <a:ln/>
        </p:spPr>
        <p:txBody>
          <a:bodyPr wrap="square" lIns="0" tIns="0" rIns="0" bIns="0" rtlCol="0" anchor="t"/>
          <a:lstStyle/>
          <a:p>
            <a:pPr indent="0" marL="0">
              <a:buNone/>
            </a:pPr>
            <a:r>
              <a:rPr lang="en-US" sz="1800" b="1" dirty="0">
                <a:solidFill>
                  <a:schemeClr val="tx1"/>
                </a:solidFill>
              </a:rPr>
              <a:t>Hitung dengan rumus</a:t>
            </a:r>
            <a:endParaRPr lang="en-US" sz="1800" dirty="0"/>
          </a:p>
        </p:txBody>
      </p:sp>
      <p:sp>
        <p:nvSpPr>
          <p:cNvPr id="20" name="Isi langkah 3"/>
          <p:cNvSpPr txBox="1"/>
          <p:nvPr/>
        </p:nvSpPr>
        <p:spPr>
          <a:xfrm>
            <a:off x="6461608" y="5029200"/>
            <a:ext cx="2110664" cy="914400"/>
          </a:xfrm>
          <a:prstGeom prst="rect">
            <a:avLst/>
          </a:prstGeom>
          <a:noFill/>
          <a:ln/>
        </p:spPr>
        <p:txBody>
          <a:bodyPr wrap="square" lIns="0" tIns="0" rIns="0" bIns="0" rtlCol="0" anchor="t"/>
          <a:lstStyle/>
          <a:p>
            <a:pPr indent="0" marL="0">
              <a:buNone/>
            </a:pPr>
            <a:r>
              <a:rPr lang="en-US" sz="1400" dirty="0">
                <a:solidFill>
                  <a:schemeClr val="tx1"/>
                </a:solidFill>
              </a:rPr>
              <a:t>Masukkan semua nilai, lalu bagi daya dengan penyebut.</a:t>
            </a:r>
            <a:endParaRPr lang="en-US" sz="1400" dirty="0"/>
          </a:p>
        </p:txBody>
      </p:sp>
      <p:sp>
        <p:nvSpPr>
          <p:cNvPr id="21" name="Kartu langkah 4"/>
          <p:cNvSpPr/>
          <p:nvPr/>
        </p:nvSpPr>
        <p:spPr>
          <a:xfrm>
            <a:off x="9075191" y="3474720"/>
            <a:ext cx="2567864" cy="2651760"/>
          </a:xfrm>
          <a:prstGeom prst="roundRect">
            <a:avLst>
              <a:gd name="adj" fmla="val 4273"/>
            </a:avLst>
          </a:prstGeom>
          <a:solidFill>
            <a:schemeClr val="bg2"/>
          </a:solidFill>
          <a:ln/>
        </p:spPr>
      </p:sp>
      <p:sp>
        <p:nvSpPr>
          <p:cNvPr id="22" name="Langkah 4 lingkaran"/>
          <p:cNvSpPr/>
          <p:nvPr/>
        </p:nvSpPr>
        <p:spPr>
          <a:xfrm>
            <a:off x="9303791" y="3703320"/>
            <a:ext cx="548640" cy="548640"/>
          </a:xfrm>
          <a:prstGeom prst="ellipse">
            <a:avLst/>
          </a:prstGeom>
          <a:solidFill>
            <a:schemeClr val="accent1"/>
          </a:solidFill>
          <a:ln/>
        </p:spPr>
      </p:sp>
      <p:sp>
        <p:nvSpPr>
          <p:cNvPr id="23" name="Langkah 4 angka"/>
          <p:cNvSpPr txBox="1"/>
          <p:nvPr/>
        </p:nvSpPr>
        <p:spPr>
          <a:xfrm>
            <a:off x="9303791" y="37033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4" name="Judul langkah 4"/>
          <p:cNvSpPr txBox="1"/>
          <p:nvPr/>
        </p:nvSpPr>
        <p:spPr>
          <a:xfrm>
            <a:off x="9303791" y="4434840"/>
            <a:ext cx="2110664" cy="640080"/>
          </a:xfrm>
          <a:prstGeom prst="rect">
            <a:avLst/>
          </a:prstGeom>
          <a:noFill/>
          <a:ln/>
        </p:spPr>
        <p:txBody>
          <a:bodyPr wrap="square" lIns="0" tIns="0" rIns="0" bIns="0" rtlCol="0" anchor="t"/>
          <a:lstStyle/>
          <a:p>
            <a:pPr indent="0" marL="0">
              <a:buNone/>
            </a:pPr>
            <a:r>
              <a:rPr lang="en-US" sz="1800" b="1" dirty="0">
                <a:solidFill>
                  <a:schemeClr val="tx1"/>
                </a:solidFill>
              </a:rPr>
              <a:t>Verifikasi</a:t>
            </a:r>
            <a:endParaRPr lang="en-US" sz="1800" dirty="0"/>
          </a:p>
        </p:txBody>
      </p:sp>
      <p:sp>
        <p:nvSpPr>
          <p:cNvPr id="25" name="Isi langkah 4"/>
          <p:cNvSpPr txBox="1"/>
          <p:nvPr/>
        </p:nvSpPr>
        <p:spPr>
          <a:xfrm>
            <a:off x="9303791" y="5029200"/>
            <a:ext cx="2110664" cy="914400"/>
          </a:xfrm>
          <a:prstGeom prst="rect">
            <a:avLst/>
          </a:prstGeom>
          <a:noFill/>
          <a:ln/>
        </p:spPr>
        <p:txBody>
          <a:bodyPr wrap="square" lIns="0" tIns="0" rIns="0" bIns="0" rtlCol="0" anchor="t"/>
          <a:lstStyle/>
          <a:p>
            <a:pPr indent="0" marL="0">
              <a:buNone/>
            </a:pPr>
            <a:r>
              <a:rPr lang="en-US" sz="1400" dirty="0">
                <a:solidFill>
                  <a:schemeClr val="tx1"/>
                </a:solidFill>
              </a:rPr>
              <a:t>Bandingkan dengan arus di nameplate; pakai nameplate jika ada.</a:t>
            </a:r>
            <a:endParaRPr lang="en-US" sz="1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Contoh Perhitungan I_FL</a:t>
            </a:r>
            <a:endParaRPr lang="en-US" sz="3600" dirty="0"/>
          </a:p>
        </p:txBody>
      </p:sp>
      <p:graphicFrame>
        <p:nvGraphicFramePr>
          <p:cNvPr id="5" name="Tabel data motor"/>
          <p:cNvGraphicFramePr>
            <a:graphicFrameLocks noGrp="1"/>
          </p:cNvGraphicFramePr>
          <p:nvPr>
            <p:extLst>
              <p:ext uri="{D42A27DB-BD31-4B8C-83A1-F6EECF244321}">
                <p14:modId xmlns:p14="http://schemas.microsoft.com/office/powerpoint/2010/main" val="1579011935"/>
              </p:ext>
            </p:extLst>
          </p:nvPr>
        </p:nvGraphicFramePr>
        <p:xfrm>
          <a:off x="548640" y="1508760"/>
          <a:ext cx="4754880" cy="914400"/>
        </p:xfrm>
        <a:graphic>
          <a:graphicData uri="http://schemas.openxmlformats.org/drawingml/2006/table">
            <a:tbl>
              <a:tblPr/>
              <a:tblGrid>
                <a:gridCol w="2377440"/>
                <a:gridCol w="2377440"/>
              </a:tblGrid>
              <a:tr h="685800">
                <a:tc>
                  <a:txBody>
                    <a:bodyPr/>
                    <a:lstStyle/>
                    <a:p>
                      <a:pPr indent="0" marL="0">
                        <a:buNone/>
                      </a:pPr>
                      <a:r>
                        <a:rPr lang="en-US" sz="1600" b="1" dirty="0">
                          <a:solidFill>
                            <a:schemeClr val="bg1"/>
                          </a:solidFill>
                        </a:rPr>
                        <a:t>Parameter motor</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Nilai</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r>
              <a:tr h="685800">
                <a:tc>
                  <a:txBody>
                    <a:bodyPr/>
                    <a:lstStyle/>
                    <a:p>
                      <a:pPr indent="0" marL="0">
                        <a:buNone/>
                      </a:pPr>
                      <a:r>
                        <a:rPr lang="en-US" sz="1600" b="1" dirty="0">
                          <a:solidFill>
                            <a:schemeClr val="tx1"/>
                          </a:solidFill>
                        </a:rPr>
                        <a:t>Daya poros (P)</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7,5 kW (7.500 W)</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685800">
                <a:tc>
                  <a:txBody>
                    <a:bodyPr/>
                    <a:lstStyle/>
                    <a:p>
                      <a:pPr indent="0" marL="0">
                        <a:buNone/>
                      </a:pPr>
                      <a:r>
                        <a:rPr lang="en-US" sz="1600" b="1" dirty="0">
                          <a:solidFill>
                            <a:schemeClr val="tx1"/>
                          </a:solidFill>
                        </a:rPr>
                        <a:t>Tegangan (V)</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380 V, 3 fasa</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685800">
                <a:tc>
                  <a:txBody>
                    <a:bodyPr/>
                    <a:lstStyle/>
                    <a:p>
                      <a:pPr indent="0" marL="0">
                        <a:buNone/>
                      </a:pPr>
                      <a:r>
                        <a:rPr lang="en-US" sz="1600" b="1" dirty="0">
                          <a:solidFill>
                            <a:schemeClr val="tx1"/>
                          </a:solidFill>
                        </a:rPr>
                        <a:t>Faktor daya (cos φ)</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0,85</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685800">
                <a:tc>
                  <a:txBody>
                    <a:bodyPr/>
                    <a:lstStyle/>
                    <a:p>
                      <a:pPr indent="0" marL="0">
                        <a:buNone/>
                      </a:pPr>
                      <a:r>
                        <a:rPr lang="en-US" sz="1600" b="1" dirty="0">
                          <a:solidFill>
                            <a:schemeClr val="tx1"/>
                          </a:solidFill>
                        </a:rPr>
                        <a:t>Efisiensi (η)</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88 %</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685800">
                <a:tc>
                  <a:txBody>
                    <a:bodyPr/>
                    <a:lstStyle/>
                    <a:p>
                      <a:pPr indent="0" marL="0">
                        <a:buNone/>
                      </a:pPr>
                      <a:r>
                        <a:rPr lang="en-US" sz="1600" b="1" dirty="0">
                          <a:solidFill>
                            <a:schemeClr val="tx1"/>
                          </a:solidFill>
                        </a:rPr>
                        <a:t>Hubungan belitan</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Δ 380 V</a:t>
                      </a:r>
                      <a:endParaRPr lang="en-US" sz="16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bl>
          </a:graphicData>
        </a:graphic>
      </p:graphicFrame>
      <p:sp>
        <p:nvSpPr>
          <p:cNvPr id="4" name="Kartu perhitungan"/>
          <p:cNvSpPr/>
          <p:nvPr/>
        </p:nvSpPr>
        <p:spPr>
          <a:xfrm>
            <a:off x="5577840" y="1508760"/>
            <a:ext cx="6065215" cy="2468880"/>
          </a:xfrm>
          <a:prstGeom prst="roundRect">
            <a:avLst>
              <a:gd name="adj" fmla="val 4444"/>
            </a:avLst>
          </a:prstGeom>
          <a:solidFill>
            <a:schemeClr val="tx1"/>
          </a:solidFill>
          <a:ln/>
        </p:spPr>
      </p:sp>
      <p:sp>
        <p:nvSpPr>
          <p:cNvPr id="5" name="Label perhitungan"/>
          <p:cNvSpPr txBox="1"/>
          <p:nvPr/>
        </p:nvSpPr>
        <p:spPr>
          <a:xfrm>
            <a:off x="5852160" y="1691640"/>
            <a:ext cx="4572000" cy="274320"/>
          </a:xfrm>
          <a:prstGeom prst="rect">
            <a:avLst/>
          </a:prstGeom>
          <a:noFill/>
          <a:ln/>
        </p:spPr>
        <p:txBody>
          <a:bodyPr wrap="square" lIns="0" tIns="0" rIns="0" bIns="0" rtlCol="0" anchor="t"/>
          <a:lstStyle/>
          <a:p>
            <a:pPr indent="0" marL="0">
              <a:buNone/>
            </a:pPr>
            <a:r>
              <a:rPr lang="en-US" sz="1300" b="1" dirty="0">
                <a:solidFill>
                  <a:schemeClr val="accent1"/>
                </a:solidFill>
              </a:rPr>
              <a:t>PERHITUNGAN</a:t>
            </a:r>
            <a:endParaRPr lang="en-US" sz="1300" dirty="0"/>
          </a:p>
        </p:txBody>
      </p:sp>
      <p:sp>
        <p:nvSpPr>
          <p:cNvPr id="6" name="Langkah hitung"/>
          <p:cNvSpPr txBox="1"/>
          <p:nvPr/>
        </p:nvSpPr>
        <p:spPr>
          <a:xfrm>
            <a:off x="5852160" y="2103120"/>
            <a:ext cx="5486400" cy="1737360"/>
          </a:xfrm>
          <a:prstGeom prst="rect">
            <a:avLst/>
          </a:prstGeom>
          <a:noFill/>
          <a:ln/>
        </p:spPr>
        <p:txBody>
          <a:bodyPr wrap="square" lIns="0" tIns="0" rIns="0" bIns="0" rtlCol="0" anchor="t"/>
          <a:lstStyle/>
          <a:p>
            <a:pPr indent="0" marL="0">
              <a:spcAft>
                <a:spcPts val="600"/>
              </a:spcAft>
              <a:buNone/>
            </a:pPr>
            <a:r>
              <a:rPr lang="en-US" sz="2000" dirty="0">
                <a:solidFill>
                  <a:schemeClr val="bg1"/>
                </a:solidFill>
              </a:rPr>
              <a:t>I_FL = P / (√3 × V × cos φ × η)</a:t>
            </a:r>
            <a:endParaRPr lang="en-US" sz="2000" dirty="0"/>
          </a:p>
          <a:p>
            <a:pPr indent="0" marL="0">
              <a:spcAft>
                <a:spcPts val="600"/>
              </a:spcAft>
              <a:buNone/>
            </a:pPr>
            <a:r>
              <a:rPr lang="en-US" sz="2000" dirty="0">
                <a:solidFill>
                  <a:schemeClr val="bg1"/>
                </a:solidFill>
              </a:rPr>
              <a:t>= 7.500 / (1,732 × 380 × 0,85 × 0,88)</a:t>
            </a:r>
            <a:endParaRPr lang="en-US" sz="2000" dirty="0"/>
          </a:p>
          <a:p>
            <a:pPr indent="0" marL="0">
              <a:spcAft>
                <a:spcPts val="600"/>
              </a:spcAft>
              <a:buNone/>
            </a:pPr>
            <a:r>
              <a:rPr lang="en-US" sz="2000" dirty="0">
                <a:solidFill>
                  <a:schemeClr val="bg1"/>
                </a:solidFill>
              </a:rPr>
              <a:t>= 7.500 / 492,3</a:t>
            </a:r>
            <a:endParaRPr lang="en-US" sz="2000" dirty="0"/>
          </a:p>
          <a:p>
            <a:pPr indent="0" marL="0">
              <a:spcAft>
                <a:spcPts val="600"/>
              </a:spcAft>
              <a:buNone/>
            </a:pPr>
            <a:r>
              <a:rPr lang="en-US" sz="2000" b="1" dirty="0">
                <a:solidFill>
                  <a:schemeClr val="accent1"/>
                </a:solidFill>
              </a:rPr>
              <a:t>≈ 15,2 A</a:t>
            </a:r>
            <a:endParaRPr lang="en-US" sz="2000" dirty="0"/>
          </a:p>
        </p:txBody>
      </p:sp>
      <p:sp>
        <p:nvSpPr>
          <p:cNvPr id="7" name="Kartu hasil"/>
          <p:cNvSpPr/>
          <p:nvPr/>
        </p:nvSpPr>
        <p:spPr>
          <a:xfrm>
            <a:off x="5577840" y="4251960"/>
            <a:ext cx="2926080" cy="1828800"/>
          </a:xfrm>
          <a:prstGeom prst="roundRect">
            <a:avLst>
              <a:gd name="adj" fmla="val 6000"/>
            </a:avLst>
          </a:prstGeom>
          <a:solidFill>
            <a:schemeClr val="accent2"/>
          </a:solidFill>
          <a:ln/>
        </p:spPr>
      </p:sp>
      <p:sp>
        <p:nvSpPr>
          <p:cNvPr id="8" name="Hasil I_FL"/>
          <p:cNvSpPr txBox="1"/>
          <p:nvPr/>
        </p:nvSpPr>
        <p:spPr>
          <a:xfrm>
            <a:off x="5760720" y="4434840"/>
            <a:ext cx="2560320" cy="914400"/>
          </a:xfrm>
          <a:prstGeom prst="rect">
            <a:avLst/>
          </a:prstGeom>
          <a:noFill/>
          <a:ln/>
        </p:spPr>
        <p:txBody>
          <a:bodyPr wrap="square" lIns="0" tIns="0" rIns="0" bIns="0" rtlCol="0" anchor="ctr"/>
          <a:lstStyle/>
          <a:p>
            <a:pPr indent="0" marL="0">
              <a:buNone/>
            </a:pPr>
            <a:r>
              <a:rPr lang="en-US" sz="5400" b="1" dirty="0">
                <a:solidFill>
                  <a:schemeClr val="bg1"/>
                </a:solidFill>
              </a:rPr>
              <a:t>15,2 A</a:t>
            </a:r>
            <a:endParaRPr lang="en-US" sz="5400" dirty="0"/>
          </a:p>
        </p:txBody>
      </p:sp>
      <p:sp>
        <p:nvSpPr>
          <p:cNvPr id="9" name="Label hasil"/>
          <p:cNvSpPr txBox="1"/>
          <p:nvPr/>
        </p:nvSpPr>
        <p:spPr>
          <a:xfrm>
            <a:off x="5760720" y="5440680"/>
            <a:ext cx="2560320" cy="457200"/>
          </a:xfrm>
          <a:prstGeom prst="rect">
            <a:avLst/>
          </a:prstGeom>
          <a:noFill/>
          <a:ln/>
        </p:spPr>
        <p:txBody>
          <a:bodyPr wrap="square" lIns="0" tIns="0" rIns="0" bIns="0" rtlCol="0" anchor="t"/>
          <a:lstStyle/>
          <a:p>
            <a:pPr indent="0" marL="0">
              <a:buNone/>
            </a:pPr>
            <a:r>
              <a:rPr lang="en-US" sz="1400" dirty="0">
                <a:solidFill>
                  <a:schemeClr val="bg1"/>
                </a:solidFill>
              </a:rPr>
              <a:t>Arus beban penuh (I_FL)</a:t>
            </a:r>
            <a:endParaRPr lang="en-US" sz="1400" dirty="0"/>
          </a:p>
        </p:txBody>
      </p:sp>
      <p:sp>
        <p:nvSpPr>
          <p:cNvPr id="10" name="Kartu tip"/>
          <p:cNvSpPr/>
          <p:nvPr/>
        </p:nvSpPr>
        <p:spPr>
          <a:xfrm>
            <a:off x="8716975" y="4251960"/>
            <a:ext cx="2926080" cy="1828800"/>
          </a:xfrm>
          <a:prstGeom prst="roundRect">
            <a:avLst>
              <a:gd name="adj" fmla="val 6000"/>
            </a:avLst>
          </a:prstGeom>
          <a:solidFill>
            <a:schemeClr val="bg2"/>
          </a:solidFill>
          <a:ln/>
        </p:spPr>
      </p:sp>
      <p:sp>
        <p:nvSpPr>
          <p:cNvPr id="11" name="Tip lingkaran"/>
          <p:cNvSpPr/>
          <p:nvPr/>
        </p:nvSpPr>
        <p:spPr>
          <a:xfrm>
            <a:off x="8945575" y="4434840"/>
            <a:ext cx="502920" cy="502920"/>
          </a:xfrm>
          <a:prstGeom prst="ellipse">
            <a:avLst/>
          </a:prstGeom>
          <a:solidFill>
            <a:schemeClr val="accent1"/>
          </a:solidFill>
          <a:ln/>
        </p:spPr>
      </p:sp>
      <p:pic>
        <p:nvPicPr>
          <p:cNvPr id="12" name="Tip ikon" descr="Ikon Tip">    </p:cNvPr>
          <p:cNvPicPr>
            <a:picLocks noChangeAspect="1"/>
          </p:cNvPicPr>
          <p:nvPr/>
        </p:nvPicPr>
        <p:blipFill>
          <a:blip r:embed="rId1"/>
          <a:stretch>
            <a:fillRect/>
          </a:stretch>
        </p:blipFill>
        <p:spPr>
          <a:xfrm>
            <a:off x="9081364" y="4570628"/>
            <a:ext cx="231343" cy="231343"/>
          </a:xfrm>
          <a:prstGeom prst="rect">
            <a:avLst/>
          </a:prstGeom>
        </p:spPr>
      </p:pic>
      <p:sp>
        <p:nvSpPr>
          <p:cNvPr id="13" name="Isi tip"/>
          <p:cNvSpPr txBox="1"/>
          <p:nvPr/>
        </p:nvSpPr>
        <p:spPr>
          <a:xfrm>
            <a:off x="8945575" y="5074920"/>
            <a:ext cx="2468880" cy="914400"/>
          </a:xfrm>
          <a:prstGeom prst="rect">
            <a:avLst/>
          </a:prstGeom>
          <a:noFill/>
          <a:ln/>
        </p:spPr>
        <p:txBody>
          <a:bodyPr wrap="square" lIns="0" tIns="0" rIns="0" bIns="0" rtlCol="0" anchor="t"/>
          <a:lstStyle/>
          <a:p>
            <a:pPr indent="0" marL="0">
              <a:buNone/>
            </a:pPr>
            <a:r>
              <a:rPr lang="en-US" sz="1400" dirty="0">
                <a:solidFill>
                  <a:schemeClr val="tx1"/>
                </a:solidFill>
              </a:rPr>
              <a:t>Tip cepat: ≈ 2 A per kW pada 380 V, jadi 7,5 kW ≈ 15 A.</a:t>
            </a:r>
            <a:endParaRPr lang="en-US" sz="1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Memilih MCB, Kabel, Kontaktor, OLR</a:t>
            </a:r>
            <a:endParaRPr lang="en-US" sz="3600" dirty="0"/>
          </a:p>
        </p:txBody>
      </p:sp>
      <p:sp>
        <p:nvSpPr>
          <p:cNvPr id="3" name="Kartu MCB"/>
          <p:cNvSpPr/>
          <p:nvPr/>
        </p:nvSpPr>
        <p:spPr>
          <a:xfrm>
            <a:off x="548640" y="1508760"/>
            <a:ext cx="2567864" cy="4572000"/>
          </a:xfrm>
          <a:prstGeom prst="roundRect">
            <a:avLst>
              <a:gd name="adj" fmla="val 4273"/>
            </a:avLst>
          </a:prstGeom>
          <a:solidFill>
            <a:schemeClr val="bg2"/>
          </a:solidFill>
          <a:ln/>
        </p:spPr>
      </p:sp>
      <p:sp>
        <p:nvSpPr>
          <p:cNvPr id="4" name="MCB lingkaran"/>
          <p:cNvSpPr/>
          <p:nvPr/>
        </p:nvSpPr>
        <p:spPr>
          <a:xfrm>
            <a:off x="777240" y="1737360"/>
            <a:ext cx="731520" cy="731520"/>
          </a:xfrm>
          <a:prstGeom prst="ellipse">
            <a:avLst/>
          </a:prstGeom>
          <a:solidFill>
            <a:schemeClr val="accent2"/>
          </a:solidFill>
          <a:ln/>
        </p:spPr>
      </p:sp>
      <p:pic>
        <p:nvPicPr>
          <p:cNvPr id="5" name="MCB ikon" descr="Ikon MCB">    </p:cNvPr>
          <p:cNvPicPr>
            <a:picLocks noChangeAspect="1"/>
          </p:cNvPicPr>
          <p:nvPr/>
        </p:nvPicPr>
        <p:blipFill>
          <a:blip r:embed="rId1"/>
          <a:stretch>
            <a:fillRect/>
          </a:stretch>
        </p:blipFill>
        <p:spPr>
          <a:xfrm>
            <a:off x="974750" y="1934870"/>
            <a:ext cx="336499" cy="336499"/>
          </a:xfrm>
          <a:prstGeom prst="rect">
            <a:avLst/>
          </a:prstGeom>
        </p:spPr>
      </p:pic>
      <p:sp>
        <p:nvSpPr>
          <p:cNvPr id="6" name="Nama MCB"/>
          <p:cNvSpPr txBox="1"/>
          <p:nvPr/>
        </p:nvSpPr>
        <p:spPr>
          <a:xfrm>
            <a:off x="777240" y="2651760"/>
            <a:ext cx="2110664" cy="411480"/>
          </a:xfrm>
          <a:prstGeom prst="rect">
            <a:avLst/>
          </a:prstGeom>
          <a:noFill/>
          <a:ln/>
        </p:spPr>
        <p:txBody>
          <a:bodyPr wrap="square" lIns="0" tIns="0" rIns="0" bIns="0" rtlCol="0" anchor="t"/>
          <a:lstStyle/>
          <a:p>
            <a:pPr indent="0" marL="0">
              <a:buNone/>
            </a:pPr>
            <a:r>
              <a:rPr lang="en-US" sz="2000" b="1" dirty="0">
                <a:solidFill>
                  <a:schemeClr val="tx1"/>
                </a:solidFill>
              </a:rPr>
              <a:t>MCB</a:t>
            </a:r>
            <a:endParaRPr lang="en-US" sz="2000" dirty="0"/>
          </a:p>
        </p:txBody>
      </p:sp>
      <p:sp>
        <p:nvSpPr>
          <p:cNvPr id="7" name="Aturan MCB"/>
          <p:cNvSpPr txBox="1"/>
          <p:nvPr/>
        </p:nvSpPr>
        <p:spPr>
          <a:xfrm>
            <a:off x="777240" y="3154680"/>
            <a:ext cx="2110664" cy="1508760"/>
          </a:xfrm>
          <a:prstGeom prst="rect">
            <a:avLst/>
          </a:prstGeom>
          <a:noFill/>
          <a:ln/>
        </p:spPr>
        <p:txBody>
          <a:bodyPr wrap="square" lIns="0" tIns="0" rIns="0" bIns="0" rtlCol="0" anchor="t"/>
          <a:lstStyle/>
          <a:p>
            <a:pPr indent="0" marL="0">
              <a:buNone/>
            </a:pPr>
            <a:r>
              <a:rPr lang="en-US" sz="1400" dirty="0">
                <a:solidFill>
                  <a:schemeClr val="tx1"/>
                </a:solidFill>
              </a:rPr>
              <a:t>Rating ≈ 1,25 × I_FL, dibulatkan ke ukuran standar. Kurva D untuk menahan arus start.</a:t>
            </a:r>
            <a:endParaRPr lang="en-US" sz="1400" dirty="0"/>
          </a:p>
        </p:txBody>
      </p:sp>
      <p:sp>
        <p:nvSpPr>
          <p:cNvPr id="8" name="Hasil MCB"/>
          <p:cNvSpPr/>
          <p:nvPr/>
        </p:nvSpPr>
        <p:spPr>
          <a:xfrm>
            <a:off x="685800" y="4754880"/>
            <a:ext cx="2293544" cy="1188720"/>
          </a:xfrm>
          <a:prstGeom prst="roundRect">
            <a:avLst>
              <a:gd name="adj" fmla="val 9231"/>
            </a:avLst>
          </a:prstGeom>
          <a:solidFill>
            <a:schemeClr val="tx1"/>
          </a:solidFill>
          <a:ln/>
        </p:spPr>
      </p:sp>
      <p:sp>
        <p:nvSpPr>
          <p:cNvPr id="9" name="Label contoh MCB"/>
          <p:cNvSpPr txBox="1"/>
          <p:nvPr/>
        </p:nvSpPr>
        <p:spPr>
          <a:xfrm>
            <a:off x="822960" y="4864608"/>
            <a:ext cx="2019224" cy="228600"/>
          </a:xfrm>
          <a:prstGeom prst="rect">
            <a:avLst/>
          </a:prstGeom>
          <a:noFill/>
          <a:ln/>
        </p:spPr>
        <p:txBody>
          <a:bodyPr wrap="square" lIns="0" tIns="0" rIns="0" bIns="0" rtlCol="0" anchor="t"/>
          <a:lstStyle/>
          <a:p>
            <a:pPr indent="0" marL="0">
              <a:buNone/>
            </a:pPr>
            <a:r>
              <a:rPr lang="en-US" sz="1100" b="1" dirty="0">
                <a:solidFill>
                  <a:schemeClr val="accent1"/>
                </a:solidFill>
              </a:rPr>
              <a:t>CONTOH 7,5 KW</a:t>
            </a:r>
            <a:endParaRPr lang="en-US" sz="1100" dirty="0"/>
          </a:p>
        </p:txBody>
      </p:sp>
      <p:sp>
        <p:nvSpPr>
          <p:cNvPr id="10" name="Nilai MCB"/>
          <p:cNvSpPr txBox="1"/>
          <p:nvPr/>
        </p:nvSpPr>
        <p:spPr>
          <a:xfrm>
            <a:off x="822960" y="5120640"/>
            <a:ext cx="2019224" cy="365760"/>
          </a:xfrm>
          <a:prstGeom prst="rect">
            <a:avLst/>
          </a:prstGeom>
          <a:noFill/>
          <a:ln/>
        </p:spPr>
        <p:txBody>
          <a:bodyPr wrap="square" lIns="0" tIns="0" rIns="0" bIns="0" rtlCol="0" anchor="t"/>
          <a:lstStyle/>
          <a:p>
            <a:pPr indent="0" marL="0">
              <a:buNone/>
            </a:pPr>
            <a:r>
              <a:rPr lang="en-US" sz="2000" b="1" dirty="0">
                <a:solidFill>
                  <a:schemeClr val="bg1"/>
                </a:solidFill>
              </a:rPr>
              <a:t>20 A, kurva D</a:t>
            </a:r>
            <a:endParaRPr lang="en-US" sz="2000" dirty="0"/>
          </a:p>
        </p:txBody>
      </p:sp>
      <p:sp>
        <p:nvSpPr>
          <p:cNvPr id="11" name="Hitung MCB"/>
          <p:cNvSpPr txBox="1"/>
          <p:nvPr/>
        </p:nvSpPr>
        <p:spPr>
          <a:xfrm>
            <a:off x="822960" y="553212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1,25 × 15,2 = 19 A</a:t>
            </a:r>
            <a:endParaRPr lang="en-US" sz="1200" dirty="0"/>
          </a:p>
        </p:txBody>
      </p:sp>
      <p:sp>
        <p:nvSpPr>
          <p:cNvPr id="12" name="Kartu Kabel"/>
          <p:cNvSpPr/>
          <p:nvPr/>
        </p:nvSpPr>
        <p:spPr>
          <a:xfrm>
            <a:off x="3390824" y="1508760"/>
            <a:ext cx="2567864" cy="4572000"/>
          </a:xfrm>
          <a:prstGeom prst="roundRect">
            <a:avLst>
              <a:gd name="adj" fmla="val 4273"/>
            </a:avLst>
          </a:prstGeom>
          <a:solidFill>
            <a:schemeClr val="bg2"/>
          </a:solidFill>
          <a:ln/>
        </p:spPr>
      </p:sp>
      <p:sp>
        <p:nvSpPr>
          <p:cNvPr id="13" name="Kabel lingkaran"/>
          <p:cNvSpPr/>
          <p:nvPr/>
        </p:nvSpPr>
        <p:spPr>
          <a:xfrm>
            <a:off x="3619424" y="1737360"/>
            <a:ext cx="731520" cy="731520"/>
          </a:xfrm>
          <a:prstGeom prst="ellipse">
            <a:avLst/>
          </a:prstGeom>
          <a:solidFill>
            <a:schemeClr val="accent2"/>
          </a:solidFill>
          <a:ln/>
        </p:spPr>
      </p:sp>
      <p:pic>
        <p:nvPicPr>
          <p:cNvPr id="14" name="Kabel ikon" descr="Ikon Kabel">    </p:cNvPr>
          <p:cNvPicPr>
            <a:picLocks noChangeAspect="1"/>
          </p:cNvPicPr>
          <p:nvPr/>
        </p:nvPicPr>
        <p:blipFill>
          <a:blip r:embed="rId2"/>
          <a:stretch>
            <a:fillRect/>
          </a:stretch>
        </p:blipFill>
        <p:spPr>
          <a:xfrm>
            <a:off x="3816934" y="1934870"/>
            <a:ext cx="336499" cy="336499"/>
          </a:xfrm>
          <a:prstGeom prst="rect">
            <a:avLst/>
          </a:prstGeom>
        </p:spPr>
      </p:pic>
      <p:sp>
        <p:nvSpPr>
          <p:cNvPr id="15" name="Nama Kabel"/>
          <p:cNvSpPr txBox="1"/>
          <p:nvPr/>
        </p:nvSpPr>
        <p:spPr>
          <a:xfrm>
            <a:off x="3619424" y="2651760"/>
            <a:ext cx="2110664" cy="411480"/>
          </a:xfrm>
          <a:prstGeom prst="rect">
            <a:avLst/>
          </a:prstGeom>
          <a:noFill/>
          <a:ln/>
        </p:spPr>
        <p:txBody>
          <a:bodyPr wrap="square" lIns="0" tIns="0" rIns="0" bIns="0" rtlCol="0" anchor="t"/>
          <a:lstStyle/>
          <a:p>
            <a:pPr indent="0" marL="0">
              <a:buNone/>
            </a:pPr>
            <a:r>
              <a:rPr lang="en-US" sz="2000" b="1" dirty="0">
                <a:solidFill>
                  <a:schemeClr val="tx1"/>
                </a:solidFill>
              </a:rPr>
              <a:t>Kabel</a:t>
            </a:r>
            <a:endParaRPr lang="en-US" sz="2000" dirty="0"/>
          </a:p>
        </p:txBody>
      </p:sp>
      <p:sp>
        <p:nvSpPr>
          <p:cNvPr id="16" name="Aturan Kabel"/>
          <p:cNvSpPr txBox="1"/>
          <p:nvPr/>
        </p:nvSpPr>
        <p:spPr>
          <a:xfrm>
            <a:off x="3619424" y="3154680"/>
            <a:ext cx="2110664" cy="1508760"/>
          </a:xfrm>
          <a:prstGeom prst="rect">
            <a:avLst/>
          </a:prstGeom>
          <a:noFill/>
          <a:ln/>
        </p:spPr>
        <p:txBody>
          <a:bodyPr wrap="square" lIns="0" tIns="0" rIns="0" bIns="0" rtlCol="0" anchor="t"/>
          <a:lstStyle/>
          <a:p>
            <a:pPr indent="0" marL="0">
              <a:buNone/>
            </a:pPr>
            <a:r>
              <a:rPr lang="en-US" sz="1400" dirty="0">
                <a:solidFill>
                  <a:schemeClr val="tx1"/>
                </a:solidFill>
              </a:rPr>
              <a:t>KHA ≥ 1,25 × I_FL dan ≥ rating MCB. Cek juga drop tegangan (≤ 5 %).</a:t>
            </a:r>
            <a:endParaRPr lang="en-US" sz="1400" dirty="0"/>
          </a:p>
        </p:txBody>
      </p:sp>
      <p:sp>
        <p:nvSpPr>
          <p:cNvPr id="17" name="Hasil Kabel"/>
          <p:cNvSpPr/>
          <p:nvPr/>
        </p:nvSpPr>
        <p:spPr>
          <a:xfrm>
            <a:off x="3527984" y="4754880"/>
            <a:ext cx="2293544" cy="1188720"/>
          </a:xfrm>
          <a:prstGeom prst="roundRect">
            <a:avLst>
              <a:gd name="adj" fmla="val 9231"/>
            </a:avLst>
          </a:prstGeom>
          <a:solidFill>
            <a:schemeClr val="tx1"/>
          </a:solidFill>
          <a:ln/>
        </p:spPr>
      </p:sp>
      <p:sp>
        <p:nvSpPr>
          <p:cNvPr id="18" name="Label contoh Kabel"/>
          <p:cNvSpPr txBox="1"/>
          <p:nvPr/>
        </p:nvSpPr>
        <p:spPr>
          <a:xfrm>
            <a:off x="3665144" y="4864608"/>
            <a:ext cx="2019224" cy="228600"/>
          </a:xfrm>
          <a:prstGeom prst="rect">
            <a:avLst/>
          </a:prstGeom>
          <a:noFill/>
          <a:ln/>
        </p:spPr>
        <p:txBody>
          <a:bodyPr wrap="square" lIns="0" tIns="0" rIns="0" bIns="0" rtlCol="0" anchor="t"/>
          <a:lstStyle/>
          <a:p>
            <a:pPr indent="0" marL="0">
              <a:buNone/>
            </a:pPr>
            <a:r>
              <a:rPr lang="en-US" sz="1100" b="1" dirty="0">
                <a:solidFill>
                  <a:schemeClr val="accent1"/>
                </a:solidFill>
              </a:rPr>
              <a:t>CONTOH 7,5 KW</a:t>
            </a:r>
            <a:endParaRPr lang="en-US" sz="1100" dirty="0"/>
          </a:p>
        </p:txBody>
      </p:sp>
      <p:sp>
        <p:nvSpPr>
          <p:cNvPr id="19" name="Nilai Kabel"/>
          <p:cNvSpPr txBox="1"/>
          <p:nvPr/>
        </p:nvSpPr>
        <p:spPr>
          <a:xfrm>
            <a:off x="3665144" y="5120640"/>
            <a:ext cx="2019224" cy="365760"/>
          </a:xfrm>
          <a:prstGeom prst="rect">
            <a:avLst/>
          </a:prstGeom>
          <a:noFill/>
          <a:ln/>
        </p:spPr>
        <p:txBody>
          <a:bodyPr wrap="square" lIns="0" tIns="0" rIns="0" bIns="0" rtlCol="0" anchor="t"/>
          <a:lstStyle/>
          <a:p>
            <a:pPr indent="0" marL="0">
              <a:buNone/>
            </a:pPr>
            <a:r>
              <a:rPr lang="en-US" sz="2000" b="1" dirty="0">
                <a:solidFill>
                  <a:schemeClr val="bg1"/>
                </a:solidFill>
              </a:rPr>
              <a:t>4 × 2,5 mm²</a:t>
            </a:r>
            <a:endParaRPr lang="en-US" sz="2000" dirty="0"/>
          </a:p>
        </p:txBody>
      </p:sp>
      <p:sp>
        <p:nvSpPr>
          <p:cNvPr id="20" name="Hitung Kabel"/>
          <p:cNvSpPr txBox="1"/>
          <p:nvPr/>
        </p:nvSpPr>
        <p:spPr>
          <a:xfrm>
            <a:off x="3665144" y="553212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KHA ≈ 24 A ≥ 20 A</a:t>
            </a:r>
            <a:endParaRPr lang="en-US" sz="1200" dirty="0"/>
          </a:p>
        </p:txBody>
      </p:sp>
      <p:sp>
        <p:nvSpPr>
          <p:cNvPr id="21" name="Kartu Kontaktor"/>
          <p:cNvSpPr/>
          <p:nvPr/>
        </p:nvSpPr>
        <p:spPr>
          <a:xfrm>
            <a:off x="6233008" y="1508760"/>
            <a:ext cx="2567864" cy="4572000"/>
          </a:xfrm>
          <a:prstGeom prst="roundRect">
            <a:avLst>
              <a:gd name="adj" fmla="val 4273"/>
            </a:avLst>
          </a:prstGeom>
          <a:solidFill>
            <a:schemeClr val="bg2"/>
          </a:solidFill>
          <a:ln/>
        </p:spPr>
      </p:sp>
      <p:sp>
        <p:nvSpPr>
          <p:cNvPr id="22" name="Kontaktor lingkaran"/>
          <p:cNvSpPr/>
          <p:nvPr/>
        </p:nvSpPr>
        <p:spPr>
          <a:xfrm>
            <a:off x="6461608" y="1737360"/>
            <a:ext cx="731520" cy="731520"/>
          </a:xfrm>
          <a:prstGeom prst="ellipse">
            <a:avLst/>
          </a:prstGeom>
          <a:solidFill>
            <a:schemeClr val="accent2"/>
          </a:solidFill>
          <a:ln/>
        </p:spPr>
      </p:sp>
      <p:pic>
        <p:nvPicPr>
          <p:cNvPr id="23" name="Kontaktor ikon" descr="Ikon Kontaktor">    </p:cNvPr>
          <p:cNvPicPr>
            <a:picLocks noChangeAspect="1"/>
          </p:cNvPicPr>
          <p:nvPr/>
        </p:nvPicPr>
        <p:blipFill>
          <a:blip r:embed="rId3"/>
          <a:stretch>
            <a:fillRect/>
          </a:stretch>
        </p:blipFill>
        <p:spPr>
          <a:xfrm>
            <a:off x="6659118" y="1934870"/>
            <a:ext cx="336499" cy="336499"/>
          </a:xfrm>
          <a:prstGeom prst="rect">
            <a:avLst/>
          </a:prstGeom>
        </p:spPr>
      </p:pic>
      <p:sp>
        <p:nvSpPr>
          <p:cNvPr id="24" name="Nama Kontaktor"/>
          <p:cNvSpPr txBox="1"/>
          <p:nvPr/>
        </p:nvSpPr>
        <p:spPr>
          <a:xfrm>
            <a:off x="6461608" y="2651760"/>
            <a:ext cx="2110664" cy="411480"/>
          </a:xfrm>
          <a:prstGeom prst="rect">
            <a:avLst/>
          </a:prstGeom>
          <a:noFill/>
          <a:ln/>
        </p:spPr>
        <p:txBody>
          <a:bodyPr wrap="square" lIns="0" tIns="0" rIns="0" bIns="0" rtlCol="0" anchor="t"/>
          <a:lstStyle/>
          <a:p>
            <a:pPr indent="0" marL="0">
              <a:buNone/>
            </a:pPr>
            <a:r>
              <a:rPr lang="en-US" sz="2000" b="1" dirty="0">
                <a:solidFill>
                  <a:schemeClr val="tx1"/>
                </a:solidFill>
              </a:rPr>
              <a:t>Kontaktor</a:t>
            </a:r>
            <a:endParaRPr lang="en-US" sz="2000" dirty="0"/>
          </a:p>
        </p:txBody>
      </p:sp>
      <p:sp>
        <p:nvSpPr>
          <p:cNvPr id="25" name="Aturan Kontaktor"/>
          <p:cNvSpPr txBox="1"/>
          <p:nvPr/>
        </p:nvSpPr>
        <p:spPr>
          <a:xfrm>
            <a:off x="6461608" y="3154680"/>
            <a:ext cx="2110664" cy="1508760"/>
          </a:xfrm>
          <a:prstGeom prst="rect">
            <a:avLst/>
          </a:prstGeom>
          <a:noFill/>
          <a:ln/>
        </p:spPr>
        <p:txBody>
          <a:bodyPr wrap="square" lIns="0" tIns="0" rIns="0" bIns="0" rtlCol="0" anchor="t"/>
          <a:lstStyle/>
          <a:p>
            <a:pPr indent="0" marL="0">
              <a:buNone/>
            </a:pPr>
            <a:r>
              <a:rPr lang="en-US" sz="1400" dirty="0">
                <a:solidFill>
                  <a:schemeClr val="tx1"/>
                </a:solidFill>
              </a:rPr>
              <a:t>Pakai kategori AC-3 dengan arus nominal (Ie) ≥ I_FL motor.</a:t>
            </a:r>
            <a:endParaRPr lang="en-US" sz="1400" dirty="0"/>
          </a:p>
        </p:txBody>
      </p:sp>
      <p:sp>
        <p:nvSpPr>
          <p:cNvPr id="26" name="Hasil Kontaktor"/>
          <p:cNvSpPr/>
          <p:nvPr/>
        </p:nvSpPr>
        <p:spPr>
          <a:xfrm>
            <a:off x="6370168" y="4754880"/>
            <a:ext cx="2293544" cy="1188720"/>
          </a:xfrm>
          <a:prstGeom prst="roundRect">
            <a:avLst>
              <a:gd name="adj" fmla="val 9231"/>
            </a:avLst>
          </a:prstGeom>
          <a:solidFill>
            <a:schemeClr val="tx1"/>
          </a:solidFill>
          <a:ln/>
        </p:spPr>
      </p:sp>
      <p:sp>
        <p:nvSpPr>
          <p:cNvPr id="27" name="Label contoh Kontaktor"/>
          <p:cNvSpPr txBox="1"/>
          <p:nvPr/>
        </p:nvSpPr>
        <p:spPr>
          <a:xfrm>
            <a:off x="6507328" y="4864608"/>
            <a:ext cx="2019224" cy="228600"/>
          </a:xfrm>
          <a:prstGeom prst="rect">
            <a:avLst/>
          </a:prstGeom>
          <a:noFill/>
          <a:ln/>
        </p:spPr>
        <p:txBody>
          <a:bodyPr wrap="square" lIns="0" tIns="0" rIns="0" bIns="0" rtlCol="0" anchor="t"/>
          <a:lstStyle/>
          <a:p>
            <a:pPr indent="0" marL="0">
              <a:buNone/>
            </a:pPr>
            <a:r>
              <a:rPr lang="en-US" sz="1100" b="1" dirty="0">
                <a:solidFill>
                  <a:schemeClr val="accent1"/>
                </a:solidFill>
              </a:rPr>
              <a:t>CONTOH 7,5 KW</a:t>
            </a:r>
            <a:endParaRPr lang="en-US" sz="1100" dirty="0"/>
          </a:p>
        </p:txBody>
      </p:sp>
      <p:sp>
        <p:nvSpPr>
          <p:cNvPr id="28" name="Nilai Kontaktor"/>
          <p:cNvSpPr txBox="1"/>
          <p:nvPr/>
        </p:nvSpPr>
        <p:spPr>
          <a:xfrm>
            <a:off x="6507328" y="5120640"/>
            <a:ext cx="2019224" cy="365760"/>
          </a:xfrm>
          <a:prstGeom prst="rect">
            <a:avLst/>
          </a:prstGeom>
          <a:noFill/>
          <a:ln/>
        </p:spPr>
        <p:txBody>
          <a:bodyPr wrap="square" lIns="0" tIns="0" rIns="0" bIns="0" rtlCol="0" anchor="t"/>
          <a:lstStyle/>
          <a:p>
            <a:pPr indent="0" marL="0">
              <a:buNone/>
            </a:pPr>
            <a:r>
              <a:rPr lang="en-US" sz="2000" b="1" dirty="0">
                <a:solidFill>
                  <a:schemeClr val="bg1"/>
                </a:solidFill>
              </a:rPr>
              <a:t>18 A (AC-3)</a:t>
            </a:r>
            <a:endParaRPr lang="en-US" sz="2000" dirty="0"/>
          </a:p>
        </p:txBody>
      </p:sp>
      <p:sp>
        <p:nvSpPr>
          <p:cNvPr id="29" name="Hitung Kontaktor"/>
          <p:cNvSpPr txBox="1"/>
          <p:nvPr/>
        </p:nvSpPr>
        <p:spPr>
          <a:xfrm>
            <a:off x="6507328" y="553212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 15,2 A</a:t>
            </a:r>
            <a:endParaRPr lang="en-US" sz="1200" dirty="0"/>
          </a:p>
        </p:txBody>
      </p:sp>
      <p:sp>
        <p:nvSpPr>
          <p:cNvPr id="30" name="Kartu Overload relay"/>
          <p:cNvSpPr/>
          <p:nvPr/>
        </p:nvSpPr>
        <p:spPr>
          <a:xfrm>
            <a:off x="9075191" y="1508760"/>
            <a:ext cx="2567864" cy="4572000"/>
          </a:xfrm>
          <a:prstGeom prst="roundRect">
            <a:avLst>
              <a:gd name="adj" fmla="val 4273"/>
            </a:avLst>
          </a:prstGeom>
          <a:solidFill>
            <a:schemeClr val="bg2"/>
          </a:solidFill>
          <a:ln/>
        </p:spPr>
      </p:sp>
      <p:sp>
        <p:nvSpPr>
          <p:cNvPr id="31" name="Overload relay lingkaran"/>
          <p:cNvSpPr/>
          <p:nvPr/>
        </p:nvSpPr>
        <p:spPr>
          <a:xfrm>
            <a:off x="9303791" y="1737360"/>
            <a:ext cx="731520" cy="731520"/>
          </a:xfrm>
          <a:prstGeom prst="ellipse">
            <a:avLst/>
          </a:prstGeom>
          <a:solidFill>
            <a:schemeClr val="accent2"/>
          </a:solidFill>
          <a:ln/>
        </p:spPr>
      </p:sp>
      <p:pic>
        <p:nvPicPr>
          <p:cNvPr id="32" name="Overload relay ikon" descr="Ikon Overload relay">    </p:cNvPr>
          <p:cNvPicPr>
            <a:picLocks noChangeAspect="1"/>
          </p:cNvPicPr>
          <p:nvPr/>
        </p:nvPicPr>
        <p:blipFill>
          <a:blip r:embed="rId4"/>
          <a:stretch>
            <a:fillRect/>
          </a:stretch>
        </p:blipFill>
        <p:spPr>
          <a:xfrm>
            <a:off x="9501302" y="1934870"/>
            <a:ext cx="336499" cy="336499"/>
          </a:xfrm>
          <a:prstGeom prst="rect">
            <a:avLst/>
          </a:prstGeom>
        </p:spPr>
      </p:pic>
      <p:sp>
        <p:nvSpPr>
          <p:cNvPr id="33" name="Nama Overload relay"/>
          <p:cNvSpPr txBox="1"/>
          <p:nvPr/>
        </p:nvSpPr>
        <p:spPr>
          <a:xfrm>
            <a:off x="9303791" y="2651760"/>
            <a:ext cx="2110664" cy="411480"/>
          </a:xfrm>
          <a:prstGeom prst="rect">
            <a:avLst/>
          </a:prstGeom>
          <a:noFill/>
          <a:ln/>
        </p:spPr>
        <p:txBody>
          <a:bodyPr wrap="square" lIns="0" tIns="0" rIns="0" bIns="0" rtlCol="0" anchor="t"/>
          <a:lstStyle/>
          <a:p>
            <a:pPr indent="0" marL="0">
              <a:buNone/>
            </a:pPr>
            <a:r>
              <a:rPr lang="en-US" sz="2000" b="1" dirty="0">
                <a:solidFill>
                  <a:schemeClr val="tx1"/>
                </a:solidFill>
              </a:rPr>
              <a:t>Overload relay</a:t>
            </a:r>
            <a:endParaRPr lang="en-US" sz="2000" dirty="0"/>
          </a:p>
        </p:txBody>
      </p:sp>
      <p:sp>
        <p:nvSpPr>
          <p:cNvPr id="34" name="Aturan Overload relay"/>
          <p:cNvSpPr txBox="1"/>
          <p:nvPr/>
        </p:nvSpPr>
        <p:spPr>
          <a:xfrm>
            <a:off x="9303791" y="3154680"/>
            <a:ext cx="2110664" cy="1508760"/>
          </a:xfrm>
          <a:prstGeom prst="rect">
            <a:avLst/>
          </a:prstGeom>
          <a:noFill/>
          <a:ln/>
        </p:spPr>
        <p:txBody>
          <a:bodyPr wrap="square" lIns="0" tIns="0" rIns="0" bIns="0" rtlCol="0" anchor="t"/>
          <a:lstStyle/>
          <a:p>
            <a:pPr indent="0" marL="0">
              <a:buNone/>
            </a:pPr>
            <a:r>
              <a:rPr lang="en-US" sz="1400" dirty="0">
                <a:solidFill>
                  <a:schemeClr val="tx1"/>
                </a:solidFill>
              </a:rPr>
              <a:t>Rentang setelan harus mencakup I_FL; setel sesuai arus nameplate.</a:t>
            </a:r>
            <a:endParaRPr lang="en-US" sz="1400" dirty="0"/>
          </a:p>
        </p:txBody>
      </p:sp>
      <p:sp>
        <p:nvSpPr>
          <p:cNvPr id="35" name="Hasil Overload relay"/>
          <p:cNvSpPr/>
          <p:nvPr/>
        </p:nvSpPr>
        <p:spPr>
          <a:xfrm>
            <a:off x="9212351" y="4754880"/>
            <a:ext cx="2293544" cy="1188720"/>
          </a:xfrm>
          <a:prstGeom prst="roundRect">
            <a:avLst>
              <a:gd name="adj" fmla="val 9231"/>
            </a:avLst>
          </a:prstGeom>
          <a:solidFill>
            <a:schemeClr val="tx1"/>
          </a:solidFill>
          <a:ln/>
        </p:spPr>
      </p:sp>
      <p:sp>
        <p:nvSpPr>
          <p:cNvPr id="36" name="Label contoh Overload relay"/>
          <p:cNvSpPr txBox="1"/>
          <p:nvPr/>
        </p:nvSpPr>
        <p:spPr>
          <a:xfrm>
            <a:off x="9349511" y="4864608"/>
            <a:ext cx="2019224" cy="228600"/>
          </a:xfrm>
          <a:prstGeom prst="rect">
            <a:avLst/>
          </a:prstGeom>
          <a:noFill/>
          <a:ln/>
        </p:spPr>
        <p:txBody>
          <a:bodyPr wrap="square" lIns="0" tIns="0" rIns="0" bIns="0" rtlCol="0" anchor="t"/>
          <a:lstStyle/>
          <a:p>
            <a:pPr indent="0" marL="0">
              <a:buNone/>
            </a:pPr>
            <a:r>
              <a:rPr lang="en-US" sz="1100" b="1" dirty="0">
                <a:solidFill>
                  <a:schemeClr val="accent1"/>
                </a:solidFill>
              </a:rPr>
              <a:t>CONTOH 7,5 KW</a:t>
            </a:r>
            <a:endParaRPr lang="en-US" sz="1100" dirty="0"/>
          </a:p>
        </p:txBody>
      </p:sp>
      <p:sp>
        <p:nvSpPr>
          <p:cNvPr id="37" name="Nilai Overload relay"/>
          <p:cNvSpPr txBox="1"/>
          <p:nvPr/>
        </p:nvSpPr>
        <p:spPr>
          <a:xfrm>
            <a:off x="9349511" y="5120640"/>
            <a:ext cx="2019224" cy="365760"/>
          </a:xfrm>
          <a:prstGeom prst="rect">
            <a:avLst/>
          </a:prstGeom>
          <a:noFill/>
          <a:ln/>
        </p:spPr>
        <p:txBody>
          <a:bodyPr wrap="square" lIns="0" tIns="0" rIns="0" bIns="0" rtlCol="0" anchor="t"/>
          <a:lstStyle/>
          <a:p>
            <a:pPr indent="0" marL="0">
              <a:buNone/>
            </a:pPr>
            <a:r>
              <a:rPr lang="en-US" sz="2000" b="1" dirty="0">
                <a:solidFill>
                  <a:schemeClr val="bg1"/>
                </a:solidFill>
              </a:rPr>
              <a:t>13–18 A</a:t>
            </a:r>
            <a:endParaRPr lang="en-US" sz="2000" dirty="0"/>
          </a:p>
        </p:txBody>
      </p:sp>
      <p:sp>
        <p:nvSpPr>
          <p:cNvPr id="38" name="Hitung Overload relay"/>
          <p:cNvSpPr txBox="1"/>
          <p:nvPr/>
        </p:nvSpPr>
        <p:spPr>
          <a:xfrm>
            <a:off x="9349511" y="553212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setel 15,2 A · class 10</a:t>
            </a:r>
            <a:endParaRPr lang="en-US" sz="12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Sizing Starter DOL</a:t>
            </a:r>
            <a:endParaRPr lang="en-US" sz="3600" dirty="0"/>
          </a:p>
        </p:txBody>
      </p:sp>
      <p:sp>
        <p:nvSpPr>
          <p:cNvPr id="3" name="Kotak Sumber"/>
          <p:cNvSpPr/>
          <p:nvPr/>
        </p:nvSpPr>
        <p:spPr>
          <a:xfrm>
            <a:off x="548640" y="1508760"/>
            <a:ext cx="1828800" cy="2011680"/>
          </a:xfrm>
          <a:prstGeom prst="roundRect">
            <a:avLst>
              <a:gd name="adj" fmla="val 6000"/>
            </a:avLst>
          </a:prstGeom>
          <a:solidFill>
            <a:schemeClr val="bg2"/>
          </a:solidFill>
          <a:ln/>
        </p:spPr>
      </p:sp>
      <p:sp>
        <p:nvSpPr>
          <p:cNvPr id="4" name="Sumber lingkaran"/>
          <p:cNvSpPr/>
          <p:nvPr/>
        </p:nvSpPr>
        <p:spPr>
          <a:xfrm>
            <a:off x="1188720" y="1691640"/>
            <a:ext cx="548640" cy="548640"/>
          </a:xfrm>
          <a:prstGeom prst="ellipse">
            <a:avLst/>
          </a:prstGeom>
          <a:solidFill>
            <a:schemeClr val="accent2"/>
          </a:solidFill>
          <a:ln/>
        </p:spPr>
      </p:sp>
      <p:pic>
        <p:nvPicPr>
          <p:cNvPr id="5" name="Sumber ikon" descr="Ikon Sumber">    </p:cNvPr>
          <p:cNvPicPr>
            <a:picLocks noChangeAspect="1"/>
          </p:cNvPicPr>
          <p:nvPr/>
        </p:nvPicPr>
        <p:blipFill>
          <a:blip r:embed="rId1"/>
          <a:stretch>
            <a:fillRect/>
          </a:stretch>
        </p:blipFill>
        <p:spPr>
          <a:xfrm>
            <a:off x="1336853" y="1839773"/>
            <a:ext cx="252374" cy="252374"/>
          </a:xfrm>
          <a:prstGeom prst="rect">
            <a:avLst/>
          </a:prstGeom>
        </p:spPr>
      </p:pic>
      <p:sp>
        <p:nvSpPr>
          <p:cNvPr id="6" name="Nama Sumber"/>
          <p:cNvSpPr txBox="1"/>
          <p:nvPr/>
        </p:nvSpPr>
        <p:spPr>
          <a:xfrm>
            <a:off x="640080" y="23774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Sumber</a:t>
            </a:r>
            <a:endParaRPr lang="en-US" sz="1400" dirty="0"/>
          </a:p>
        </p:txBody>
      </p:sp>
      <p:sp>
        <p:nvSpPr>
          <p:cNvPr id="7" name="Nilai Sumber"/>
          <p:cNvSpPr txBox="1"/>
          <p:nvPr/>
        </p:nvSpPr>
        <p:spPr>
          <a:xfrm>
            <a:off x="640080" y="2697480"/>
            <a:ext cx="1645920" cy="685800"/>
          </a:xfrm>
          <a:prstGeom prst="rect">
            <a:avLst/>
          </a:prstGeom>
          <a:noFill/>
          <a:ln/>
        </p:spPr>
        <p:txBody>
          <a:bodyPr wrap="square" lIns="0" tIns="0" rIns="0" bIns="0" rtlCol="0" anchor="t"/>
          <a:lstStyle/>
          <a:p>
            <a:pPr algn="ctr" indent="0" marL="0">
              <a:buNone/>
            </a:pPr>
            <a:r>
              <a:rPr lang="en-US" sz="1600" b="1" dirty="0">
                <a:solidFill>
                  <a:schemeClr val="accent2"/>
                </a:solidFill>
              </a:rPr>
              <a:t>3 fasa 380 V</a:t>
            </a:r>
            <a:endParaRPr lang="en-US" sz="1600" dirty="0"/>
          </a:p>
        </p:txBody>
      </p:sp>
      <p:sp>
        <p:nvSpPr>
          <p:cNvPr id="8" name="Panah 1"/>
          <p:cNvSpPr/>
          <p:nvPr/>
        </p:nvSpPr>
        <p:spPr>
          <a:xfrm>
            <a:off x="2438362" y="2377440"/>
            <a:ext cx="365760" cy="274320"/>
          </a:xfrm>
          <a:prstGeom prst="rightArrow">
            <a:avLst/>
          </a:prstGeom>
          <a:solidFill>
            <a:schemeClr val="accent5"/>
          </a:solidFill>
          <a:ln/>
        </p:spPr>
      </p:sp>
      <p:sp>
        <p:nvSpPr>
          <p:cNvPr id="9" name="Kotak MCB"/>
          <p:cNvSpPr/>
          <p:nvPr/>
        </p:nvSpPr>
        <p:spPr>
          <a:xfrm>
            <a:off x="2865044" y="1508760"/>
            <a:ext cx="1828800" cy="2011680"/>
          </a:xfrm>
          <a:prstGeom prst="roundRect">
            <a:avLst>
              <a:gd name="adj" fmla="val 6000"/>
            </a:avLst>
          </a:prstGeom>
          <a:solidFill>
            <a:schemeClr val="bg2"/>
          </a:solidFill>
          <a:ln/>
        </p:spPr>
      </p:sp>
      <p:sp>
        <p:nvSpPr>
          <p:cNvPr id="10" name="MCB lingkaran"/>
          <p:cNvSpPr/>
          <p:nvPr/>
        </p:nvSpPr>
        <p:spPr>
          <a:xfrm>
            <a:off x="3505124" y="1691640"/>
            <a:ext cx="548640" cy="548640"/>
          </a:xfrm>
          <a:prstGeom prst="ellipse">
            <a:avLst/>
          </a:prstGeom>
          <a:solidFill>
            <a:schemeClr val="accent2"/>
          </a:solidFill>
          <a:ln/>
        </p:spPr>
      </p:sp>
      <p:pic>
        <p:nvPicPr>
          <p:cNvPr id="11" name="MCB ikon" descr="Ikon MCB">    </p:cNvPr>
          <p:cNvPicPr>
            <a:picLocks noChangeAspect="1"/>
          </p:cNvPicPr>
          <p:nvPr/>
        </p:nvPicPr>
        <p:blipFill>
          <a:blip r:embed="rId2"/>
          <a:stretch>
            <a:fillRect/>
          </a:stretch>
        </p:blipFill>
        <p:spPr>
          <a:xfrm>
            <a:off x="3653257" y="1839773"/>
            <a:ext cx="252374" cy="252374"/>
          </a:xfrm>
          <a:prstGeom prst="rect">
            <a:avLst/>
          </a:prstGeom>
        </p:spPr>
      </p:pic>
      <p:sp>
        <p:nvSpPr>
          <p:cNvPr id="12" name="Nama MCB"/>
          <p:cNvSpPr txBox="1"/>
          <p:nvPr/>
        </p:nvSpPr>
        <p:spPr>
          <a:xfrm>
            <a:off x="2956484" y="23774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MCB</a:t>
            </a:r>
            <a:endParaRPr lang="en-US" sz="1400" dirty="0"/>
          </a:p>
        </p:txBody>
      </p:sp>
      <p:sp>
        <p:nvSpPr>
          <p:cNvPr id="13" name="Nilai MCB"/>
          <p:cNvSpPr txBox="1"/>
          <p:nvPr/>
        </p:nvSpPr>
        <p:spPr>
          <a:xfrm>
            <a:off x="2956484" y="2697480"/>
            <a:ext cx="1645920" cy="685800"/>
          </a:xfrm>
          <a:prstGeom prst="rect">
            <a:avLst/>
          </a:prstGeom>
          <a:noFill/>
          <a:ln/>
        </p:spPr>
        <p:txBody>
          <a:bodyPr wrap="square" lIns="0" tIns="0" rIns="0" bIns="0" rtlCol="0" anchor="t"/>
          <a:lstStyle/>
          <a:p>
            <a:pPr algn="ctr" indent="0" marL="0">
              <a:buNone/>
            </a:pPr>
            <a:r>
              <a:rPr lang="en-US" sz="1600" b="1" dirty="0">
                <a:solidFill>
                  <a:schemeClr val="accent2"/>
                </a:solidFill>
              </a:rPr>
              <a:t>20 A, kurva D</a:t>
            </a:r>
            <a:endParaRPr lang="en-US" sz="1600" dirty="0"/>
          </a:p>
        </p:txBody>
      </p:sp>
      <p:sp>
        <p:nvSpPr>
          <p:cNvPr id="14" name="Panah 2"/>
          <p:cNvSpPr/>
          <p:nvPr/>
        </p:nvSpPr>
        <p:spPr>
          <a:xfrm>
            <a:off x="4754766" y="2377440"/>
            <a:ext cx="365760" cy="274320"/>
          </a:xfrm>
          <a:prstGeom prst="rightArrow">
            <a:avLst/>
          </a:prstGeom>
          <a:solidFill>
            <a:schemeClr val="accent5"/>
          </a:solidFill>
          <a:ln/>
        </p:spPr>
      </p:sp>
      <p:sp>
        <p:nvSpPr>
          <p:cNvPr id="15" name="Kotak Kontaktor"/>
          <p:cNvSpPr/>
          <p:nvPr/>
        </p:nvSpPr>
        <p:spPr>
          <a:xfrm>
            <a:off x="5181448" y="1508760"/>
            <a:ext cx="1828800" cy="2011680"/>
          </a:xfrm>
          <a:prstGeom prst="roundRect">
            <a:avLst>
              <a:gd name="adj" fmla="val 6000"/>
            </a:avLst>
          </a:prstGeom>
          <a:solidFill>
            <a:schemeClr val="bg2"/>
          </a:solidFill>
          <a:ln/>
        </p:spPr>
      </p:sp>
      <p:sp>
        <p:nvSpPr>
          <p:cNvPr id="16" name="Kontaktor lingkaran"/>
          <p:cNvSpPr/>
          <p:nvPr/>
        </p:nvSpPr>
        <p:spPr>
          <a:xfrm>
            <a:off x="5821528" y="1691640"/>
            <a:ext cx="548640" cy="548640"/>
          </a:xfrm>
          <a:prstGeom prst="ellipse">
            <a:avLst/>
          </a:prstGeom>
          <a:solidFill>
            <a:schemeClr val="accent2"/>
          </a:solidFill>
          <a:ln/>
        </p:spPr>
      </p:sp>
      <p:pic>
        <p:nvPicPr>
          <p:cNvPr id="17" name="Kontaktor ikon" descr="Ikon Kontaktor">    </p:cNvPr>
          <p:cNvPicPr>
            <a:picLocks noChangeAspect="1"/>
          </p:cNvPicPr>
          <p:nvPr/>
        </p:nvPicPr>
        <p:blipFill>
          <a:blip r:embed="rId3"/>
          <a:stretch>
            <a:fillRect/>
          </a:stretch>
        </p:blipFill>
        <p:spPr>
          <a:xfrm>
            <a:off x="5969660" y="1839773"/>
            <a:ext cx="252374" cy="252374"/>
          </a:xfrm>
          <a:prstGeom prst="rect">
            <a:avLst/>
          </a:prstGeom>
        </p:spPr>
      </p:pic>
      <p:sp>
        <p:nvSpPr>
          <p:cNvPr id="18" name="Nama Kontaktor"/>
          <p:cNvSpPr txBox="1"/>
          <p:nvPr/>
        </p:nvSpPr>
        <p:spPr>
          <a:xfrm>
            <a:off x="5272888" y="23774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Kontaktor</a:t>
            </a:r>
            <a:endParaRPr lang="en-US" sz="1400" dirty="0"/>
          </a:p>
        </p:txBody>
      </p:sp>
      <p:sp>
        <p:nvSpPr>
          <p:cNvPr id="19" name="Nilai Kontaktor"/>
          <p:cNvSpPr txBox="1"/>
          <p:nvPr/>
        </p:nvSpPr>
        <p:spPr>
          <a:xfrm>
            <a:off x="5272888" y="2697480"/>
            <a:ext cx="1645920" cy="685800"/>
          </a:xfrm>
          <a:prstGeom prst="rect">
            <a:avLst/>
          </a:prstGeom>
          <a:noFill/>
          <a:ln/>
        </p:spPr>
        <p:txBody>
          <a:bodyPr wrap="square" lIns="0" tIns="0" rIns="0" bIns="0" rtlCol="0" anchor="t"/>
          <a:lstStyle/>
          <a:p>
            <a:pPr algn="ctr" indent="0" marL="0">
              <a:buNone/>
            </a:pPr>
            <a:r>
              <a:rPr lang="en-US" sz="1600" b="1" dirty="0">
                <a:solidFill>
                  <a:schemeClr val="accent2"/>
                </a:solidFill>
              </a:rPr>
              <a:t>18 A, AC-3</a:t>
            </a:r>
            <a:endParaRPr lang="en-US" sz="1600" dirty="0"/>
          </a:p>
        </p:txBody>
      </p:sp>
      <p:sp>
        <p:nvSpPr>
          <p:cNvPr id="20" name="Panah 3"/>
          <p:cNvSpPr/>
          <p:nvPr/>
        </p:nvSpPr>
        <p:spPr>
          <a:xfrm>
            <a:off x="7071169" y="2377440"/>
            <a:ext cx="365760" cy="274320"/>
          </a:xfrm>
          <a:prstGeom prst="rightArrow">
            <a:avLst/>
          </a:prstGeom>
          <a:solidFill>
            <a:schemeClr val="accent5"/>
          </a:solidFill>
          <a:ln/>
        </p:spPr>
      </p:sp>
      <p:sp>
        <p:nvSpPr>
          <p:cNvPr id="21" name="Kotak Overload relay"/>
          <p:cNvSpPr/>
          <p:nvPr/>
        </p:nvSpPr>
        <p:spPr>
          <a:xfrm>
            <a:off x="7497851" y="1508760"/>
            <a:ext cx="1828800" cy="2011680"/>
          </a:xfrm>
          <a:prstGeom prst="roundRect">
            <a:avLst>
              <a:gd name="adj" fmla="val 6000"/>
            </a:avLst>
          </a:prstGeom>
          <a:solidFill>
            <a:schemeClr val="bg2"/>
          </a:solidFill>
          <a:ln/>
        </p:spPr>
      </p:sp>
      <p:sp>
        <p:nvSpPr>
          <p:cNvPr id="22" name="Overload relay lingkaran"/>
          <p:cNvSpPr/>
          <p:nvPr/>
        </p:nvSpPr>
        <p:spPr>
          <a:xfrm>
            <a:off x="8137931" y="1691640"/>
            <a:ext cx="548640" cy="548640"/>
          </a:xfrm>
          <a:prstGeom prst="ellipse">
            <a:avLst/>
          </a:prstGeom>
          <a:solidFill>
            <a:schemeClr val="accent2"/>
          </a:solidFill>
          <a:ln/>
        </p:spPr>
      </p:sp>
      <p:pic>
        <p:nvPicPr>
          <p:cNvPr id="23" name="Overload relay ikon" descr="Ikon Overload relay">    </p:cNvPr>
          <p:cNvPicPr>
            <a:picLocks noChangeAspect="1"/>
          </p:cNvPicPr>
          <p:nvPr/>
        </p:nvPicPr>
        <p:blipFill>
          <a:blip r:embed="rId4"/>
          <a:stretch>
            <a:fillRect/>
          </a:stretch>
        </p:blipFill>
        <p:spPr>
          <a:xfrm>
            <a:off x="8286064" y="1839773"/>
            <a:ext cx="252374" cy="252374"/>
          </a:xfrm>
          <a:prstGeom prst="rect">
            <a:avLst/>
          </a:prstGeom>
        </p:spPr>
      </p:pic>
      <p:sp>
        <p:nvSpPr>
          <p:cNvPr id="24" name="Nama Overload relay"/>
          <p:cNvSpPr txBox="1"/>
          <p:nvPr/>
        </p:nvSpPr>
        <p:spPr>
          <a:xfrm>
            <a:off x="7589291" y="237744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Overload relay</a:t>
            </a:r>
            <a:endParaRPr lang="en-US" sz="1400" dirty="0"/>
          </a:p>
        </p:txBody>
      </p:sp>
      <p:sp>
        <p:nvSpPr>
          <p:cNvPr id="25" name="Nilai Overload relay"/>
          <p:cNvSpPr txBox="1"/>
          <p:nvPr/>
        </p:nvSpPr>
        <p:spPr>
          <a:xfrm>
            <a:off x="7589291" y="2697480"/>
            <a:ext cx="1645920" cy="685800"/>
          </a:xfrm>
          <a:prstGeom prst="rect">
            <a:avLst/>
          </a:prstGeom>
          <a:noFill/>
          <a:ln/>
        </p:spPr>
        <p:txBody>
          <a:bodyPr wrap="square" lIns="0" tIns="0" rIns="0" bIns="0" rtlCol="0" anchor="t"/>
          <a:lstStyle/>
          <a:p>
            <a:pPr algn="ctr" indent="0" marL="0">
              <a:buNone/>
            </a:pPr>
            <a:r>
              <a:rPr lang="en-US" sz="1600" b="1" dirty="0">
                <a:solidFill>
                  <a:schemeClr val="accent2"/>
                </a:solidFill>
              </a:rPr>
              <a:t>13–18 A</a:t>
            </a:r>
            <a:endParaRPr lang="en-US" sz="1600" dirty="0"/>
          </a:p>
          <a:p>
            <a:pPr algn="ctr" indent="0" marL="0">
              <a:buNone/>
            </a:pPr>
            <a:r>
              <a:rPr lang="en-US" sz="1600" b="1" dirty="0">
                <a:solidFill>
                  <a:schemeClr val="accent2"/>
                </a:solidFill>
              </a:rPr>
              <a:t>set 15,2 A</a:t>
            </a:r>
            <a:endParaRPr lang="en-US" sz="1600" dirty="0"/>
          </a:p>
        </p:txBody>
      </p:sp>
      <p:sp>
        <p:nvSpPr>
          <p:cNvPr id="26" name="Panah 4"/>
          <p:cNvSpPr/>
          <p:nvPr/>
        </p:nvSpPr>
        <p:spPr>
          <a:xfrm>
            <a:off x="9387573" y="2377440"/>
            <a:ext cx="365760" cy="274320"/>
          </a:xfrm>
          <a:prstGeom prst="rightArrow">
            <a:avLst/>
          </a:prstGeom>
          <a:solidFill>
            <a:schemeClr val="accent5"/>
          </a:solidFill>
          <a:ln/>
        </p:spPr>
      </p:sp>
      <p:sp>
        <p:nvSpPr>
          <p:cNvPr id="27" name="Kotak Motor"/>
          <p:cNvSpPr/>
          <p:nvPr/>
        </p:nvSpPr>
        <p:spPr>
          <a:xfrm>
            <a:off x="9814255" y="1508760"/>
            <a:ext cx="1828800" cy="2011680"/>
          </a:xfrm>
          <a:prstGeom prst="roundRect">
            <a:avLst>
              <a:gd name="adj" fmla="val 6000"/>
            </a:avLst>
          </a:prstGeom>
          <a:solidFill>
            <a:schemeClr val="tx1"/>
          </a:solidFill>
          <a:ln/>
        </p:spPr>
      </p:sp>
      <p:sp>
        <p:nvSpPr>
          <p:cNvPr id="28" name="Motor lingkaran"/>
          <p:cNvSpPr/>
          <p:nvPr/>
        </p:nvSpPr>
        <p:spPr>
          <a:xfrm>
            <a:off x="10454335" y="1691640"/>
            <a:ext cx="548640" cy="548640"/>
          </a:xfrm>
          <a:prstGeom prst="ellipse">
            <a:avLst/>
          </a:prstGeom>
          <a:solidFill>
            <a:schemeClr val="accent1"/>
          </a:solidFill>
          <a:ln/>
        </p:spPr>
      </p:sp>
      <p:pic>
        <p:nvPicPr>
          <p:cNvPr id="29" name="Motor ikon" descr="Ikon Motor">    </p:cNvPr>
          <p:cNvPicPr>
            <a:picLocks noChangeAspect="1"/>
          </p:cNvPicPr>
          <p:nvPr/>
        </p:nvPicPr>
        <p:blipFill>
          <a:blip r:embed="rId5"/>
          <a:stretch>
            <a:fillRect/>
          </a:stretch>
        </p:blipFill>
        <p:spPr>
          <a:xfrm>
            <a:off x="10602468" y="1839773"/>
            <a:ext cx="252374" cy="252374"/>
          </a:xfrm>
          <a:prstGeom prst="rect">
            <a:avLst/>
          </a:prstGeom>
        </p:spPr>
      </p:pic>
      <p:sp>
        <p:nvSpPr>
          <p:cNvPr id="30" name="Nama Motor"/>
          <p:cNvSpPr txBox="1"/>
          <p:nvPr/>
        </p:nvSpPr>
        <p:spPr>
          <a:xfrm>
            <a:off x="9905695" y="2377440"/>
            <a:ext cx="1645920" cy="274320"/>
          </a:xfrm>
          <a:prstGeom prst="rect">
            <a:avLst/>
          </a:prstGeom>
          <a:noFill/>
          <a:ln/>
        </p:spPr>
        <p:txBody>
          <a:bodyPr wrap="square" lIns="0" tIns="0" rIns="0" bIns="0" rtlCol="0" anchor="t"/>
          <a:lstStyle/>
          <a:p>
            <a:pPr algn="ctr" indent="0" marL="0">
              <a:buNone/>
            </a:pPr>
            <a:r>
              <a:rPr lang="en-US" sz="1400" b="1" dirty="0">
                <a:solidFill>
                  <a:schemeClr val="bg1"/>
                </a:solidFill>
              </a:rPr>
              <a:t>Motor</a:t>
            </a:r>
            <a:endParaRPr lang="en-US" sz="1400" dirty="0"/>
          </a:p>
        </p:txBody>
      </p:sp>
      <p:sp>
        <p:nvSpPr>
          <p:cNvPr id="31" name="Nilai Motor"/>
          <p:cNvSpPr txBox="1"/>
          <p:nvPr/>
        </p:nvSpPr>
        <p:spPr>
          <a:xfrm>
            <a:off x="9905695" y="2697480"/>
            <a:ext cx="1645920" cy="685800"/>
          </a:xfrm>
          <a:prstGeom prst="rect">
            <a:avLst/>
          </a:prstGeom>
          <a:noFill/>
          <a:ln/>
        </p:spPr>
        <p:txBody>
          <a:bodyPr wrap="square" lIns="0" tIns="0" rIns="0" bIns="0" rtlCol="0" anchor="t"/>
          <a:lstStyle/>
          <a:p>
            <a:pPr algn="ctr" indent="0" marL="0">
              <a:buNone/>
            </a:pPr>
            <a:r>
              <a:rPr lang="en-US" sz="1600" b="1" dirty="0">
                <a:solidFill>
                  <a:schemeClr val="accent1"/>
                </a:solidFill>
              </a:rPr>
              <a:t>7,5 kW, I_FL 15,2 A</a:t>
            </a:r>
            <a:endParaRPr lang="en-US" sz="1600" dirty="0"/>
          </a:p>
        </p:txBody>
      </p:sp>
      <p:sp>
        <p:nvSpPr>
          <p:cNvPr id="32" name="Keterangan kabel DOL"/>
          <p:cNvSpPr txBox="1"/>
          <p:nvPr/>
        </p:nvSpPr>
        <p:spPr>
          <a:xfrm>
            <a:off x="548640" y="3703320"/>
            <a:ext cx="11094415" cy="365760"/>
          </a:xfrm>
          <a:prstGeom prst="rect">
            <a:avLst/>
          </a:prstGeom>
          <a:noFill/>
          <a:ln/>
        </p:spPr>
        <p:txBody>
          <a:bodyPr wrap="square" lIns="0" tIns="0" rIns="0" bIns="0" rtlCol="0" anchor="t"/>
          <a:lstStyle/>
          <a:p>
            <a:pPr indent="0" marL="0">
              <a:buNone/>
            </a:pPr>
            <a:r>
              <a:rPr lang="en-US" sz="1600" b="1" dirty="0">
                <a:solidFill>
                  <a:schemeClr val="tx1"/>
                </a:solidFill>
              </a:rPr>
              <a:t>Kabel MCB → motor: </a:t>
            </a:r>
            <a:pPr indent="0" marL="0">
              <a:buNone/>
            </a:pPr>
            <a:r>
              <a:rPr lang="en-US" sz="1600" dirty="0">
                <a:solidFill>
                  <a:schemeClr val="tx1"/>
                </a:solidFill>
              </a:rPr>
              <a:t>NYY 4 × 2,5 mm² (KHA ≈ 24 A ≥ 20 A)</a:t>
            </a:r>
            <a:endParaRPr lang="en-US" sz="1600" dirty="0"/>
          </a:p>
        </p:txBody>
      </p:sp>
      <p:sp>
        <p:nvSpPr>
          <p:cNvPr id="33" name="Kartu DOL 1"/>
          <p:cNvSpPr/>
          <p:nvPr/>
        </p:nvSpPr>
        <p:spPr>
          <a:xfrm>
            <a:off x="548640" y="4251960"/>
            <a:ext cx="3515258" cy="1828800"/>
          </a:xfrm>
          <a:prstGeom prst="roundRect">
            <a:avLst>
              <a:gd name="adj" fmla="val 6000"/>
            </a:avLst>
          </a:prstGeom>
          <a:solidFill>
            <a:schemeClr val="bg2"/>
          </a:solidFill>
          <a:ln/>
        </p:spPr>
      </p:sp>
      <p:sp>
        <p:nvSpPr>
          <p:cNvPr id="34" name="Angka DOL 1"/>
          <p:cNvSpPr txBox="1"/>
          <p:nvPr/>
        </p:nvSpPr>
        <p:spPr>
          <a:xfrm>
            <a:off x="822960" y="4389120"/>
            <a:ext cx="2966618" cy="777240"/>
          </a:xfrm>
          <a:prstGeom prst="rect">
            <a:avLst/>
          </a:prstGeom>
          <a:noFill/>
          <a:ln/>
        </p:spPr>
        <p:txBody>
          <a:bodyPr wrap="square" lIns="0" tIns="0" rIns="0" bIns="0" rtlCol="0" anchor="ctr"/>
          <a:lstStyle/>
          <a:p>
            <a:pPr indent="0" marL="0">
              <a:buNone/>
            </a:pPr>
            <a:r>
              <a:rPr lang="en-US" sz="4400" b="1" dirty="0">
                <a:solidFill>
                  <a:schemeClr val="accent2"/>
                </a:solidFill>
              </a:rPr>
              <a:t>6–8×</a:t>
            </a:r>
            <a:endParaRPr lang="en-US" sz="4400" dirty="0"/>
          </a:p>
        </p:txBody>
      </p:sp>
      <p:sp>
        <p:nvSpPr>
          <p:cNvPr id="35" name="Label DOL 1"/>
          <p:cNvSpPr txBox="1"/>
          <p:nvPr/>
        </p:nvSpPr>
        <p:spPr>
          <a:xfrm>
            <a:off x="822960" y="5257800"/>
            <a:ext cx="2966618" cy="731520"/>
          </a:xfrm>
          <a:prstGeom prst="rect">
            <a:avLst/>
          </a:prstGeom>
          <a:noFill/>
          <a:ln/>
        </p:spPr>
        <p:txBody>
          <a:bodyPr wrap="square" lIns="0" tIns="0" rIns="0" bIns="0" rtlCol="0" anchor="t"/>
          <a:lstStyle/>
          <a:p>
            <a:pPr indent="0" marL="0">
              <a:buNone/>
            </a:pPr>
            <a:r>
              <a:rPr lang="en-US" sz="1400" dirty="0">
                <a:solidFill>
                  <a:schemeClr val="tx1"/>
                </a:solidFill>
              </a:rPr>
              <a:t>arus start dibanding I_FL (≈ 91–122 A pada motor ini)</a:t>
            </a:r>
            <a:endParaRPr lang="en-US" sz="1400" dirty="0"/>
          </a:p>
        </p:txBody>
      </p:sp>
      <p:sp>
        <p:nvSpPr>
          <p:cNvPr id="36" name="Kartu DOL 2"/>
          <p:cNvSpPr/>
          <p:nvPr/>
        </p:nvSpPr>
        <p:spPr>
          <a:xfrm>
            <a:off x="4338218" y="4251960"/>
            <a:ext cx="3515258" cy="1828800"/>
          </a:xfrm>
          <a:prstGeom prst="roundRect">
            <a:avLst>
              <a:gd name="adj" fmla="val 6000"/>
            </a:avLst>
          </a:prstGeom>
          <a:solidFill>
            <a:schemeClr val="bg2"/>
          </a:solidFill>
          <a:ln/>
        </p:spPr>
      </p:sp>
      <p:sp>
        <p:nvSpPr>
          <p:cNvPr id="37" name="Angka DOL 2"/>
          <p:cNvSpPr txBox="1"/>
          <p:nvPr/>
        </p:nvSpPr>
        <p:spPr>
          <a:xfrm>
            <a:off x="4612538" y="4389120"/>
            <a:ext cx="2966618" cy="777240"/>
          </a:xfrm>
          <a:prstGeom prst="rect">
            <a:avLst/>
          </a:prstGeom>
          <a:noFill/>
          <a:ln/>
        </p:spPr>
        <p:txBody>
          <a:bodyPr wrap="square" lIns="0" tIns="0" rIns="0" bIns="0" rtlCol="0" anchor="ctr"/>
          <a:lstStyle/>
          <a:p>
            <a:pPr indent="0" marL="0">
              <a:buNone/>
            </a:pPr>
            <a:r>
              <a:rPr lang="en-US" sz="4400" b="1" dirty="0">
                <a:solidFill>
                  <a:schemeClr val="accent2"/>
                </a:solidFill>
              </a:rPr>
              <a:t>100 %</a:t>
            </a:r>
            <a:endParaRPr lang="en-US" sz="4400" dirty="0"/>
          </a:p>
        </p:txBody>
      </p:sp>
      <p:sp>
        <p:nvSpPr>
          <p:cNvPr id="38" name="Label DOL 2"/>
          <p:cNvSpPr txBox="1"/>
          <p:nvPr/>
        </p:nvSpPr>
        <p:spPr>
          <a:xfrm>
            <a:off x="4612538" y="5257800"/>
            <a:ext cx="2966618" cy="731520"/>
          </a:xfrm>
          <a:prstGeom prst="rect">
            <a:avLst/>
          </a:prstGeom>
          <a:noFill/>
          <a:ln/>
        </p:spPr>
        <p:txBody>
          <a:bodyPr wrap="square" lIns="0" tIns="0" rIns="0" bIns="0" rtlCol="0" anchor="t"/>
          <a:lstStyle/>
          <a:p>
            <a:pPr indent="0" marL="0">
              <a:buNone/>
            </a:pPr>
            <a:r>
              <a:rPr lang="en-US" sz="1400" dirty="0">
                <a:solidFill>
                  <a:schemeClr val="tx1"/>
                </a:solidFill>
              </a:rPr>
              <a:t>torsi start penuh, hentakan mekanis besar</a:t>
            </a:r>
            <a:endParaRPr lang="en-US" sz="1400" dirty="0"/>
          </a:p>
        </p:txBody>
      </p:sp>
      <p:sp>
        <p:nvSpPr>
          <p:cNvPr id="39" name="Kartu DOL 3"/>
          <p:cNvSpPr/>
          <p:nvPr/>
        </p:nvSpPr>
        <p:spPr>
          <a:xfrm>
            <a:off x="8127797" y="4251960"/>
            <a:ext cx="3515258" cy="1828800"/>
          </a:xfrm>
          <a:prstGeom prst="roundRect">
            <a:avLst>
              <a:gd name="adj" fmla="val 6000"/>
            </a:avLst>
          </a:prstGeom>
          <a:solidFill>
            <a:schemeClr val="bg2"/>
          </a:solidFill>
          <a:ln/>
        </p:spPr>
      </p:sp>
      <p:sp>
        <p:nvSpPr>
          <p:cNvPr id="40" name="Angka DOL 3"/>
          <p:cNvSpPr txBox="1"/>
          <p:nvPr/>
        </p:nvSpPr>
        <p:spPr>
          <a:xfrm>
            <a:off x="8402117" y="4389120"/>
            <a:ext cx="2966618" cy="777240"/>
          </a:xfrm>
          <a:prstGeom prst="rect">
            <a:avLst/>
          </a:prstGeom>
          <a:noFill/>
          <a:ln/>
        </p:spPr>
        <p:txBody>
          <a:bodyPr wrap="square" lIns="0" tIns="0" rIns="0" bIns="0" rtlCol="0" anchor="ctr"/>
          <a:lstStyle/>
          <a:p>
            <a:pPr indent="0" marL="0">
              <a:buNone/>
            </a:pPr>
            <a:r>
              <a:rPr lang="en-US" sz="4400" b="1" dirty="0">
                <a:solidFill>
                  <a:schemeClr val="accent2"/>
                </a:solidFill>
              </a:rPr>
              <a:t>1</a:t>
            </a:r>
            <a:endParaRPr lang="en-US" sz="4400" dirty="0"/>
          </a:p>
        </p:txBody>
      </p:sp>
      <p:sp>
        <p:nvSpPr>
          <p:cNvPr id="41" name="Label DOL 3"/>
          <p:cNvSpPr txBox="1"/>
          <p:nvPr/>
        </p:nvSpPr>
        <p:spPr>
          <a:xfrm>
            <a:off x="8402117" y="5257800"/>
            <a:ext cx="2966618" cy="731520"/>
          </a:xfrm>
          <a:prstGeom prst="rect">
            <a:avLst/>
          </a:prstGeom>
          <a:noFill/>
          <a:ln/>
        </p:spPr>
        <p:txBody>
          <a:bodyPr wrap="square" lIns="0" tIns="0" rIns="0" bIns="0" rtlCol="0" anchor="t"/>
          <a:lstStyle/>
          <a:p>
            <a:pPr indent="0" marL="0">
              <a:buNone/>
            </a:pPr>
            <a:r>
              <a:rPr lang="en-US" sz="1400" dirty="0">
                <a:solidFill>
                  <a:schemeClr val="tx1"/>
                </a:solidFill>
              </a:rPr>
              <a:t>kontaktor saja; rangkaian paling sederhana dan murah</a:t>
            </a:r>
            <a:endParaRPr lang="en-US" sz="1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Prinsip Arus pada Star-Delta</a:t>
            </a:r>
            <a:endParaRPr lang="en-US" sz="3600" dirty="0"/>
          </a:p>
        </p:txBody>
      </p:sp>
      <p:sp>
        <p:nvSpPr>
          <p:cNvPr id="3" name="Kartu STAR (Y) — saat start"/>
          <p:cNvSpPr/>
          <p:nvPr/>
        </p:nvSpPr>
        <p:spPr>
          <a:xfrm>
            <a:off x="548640" y="1463040"/>
            <a:ext cx="5410048" cy="3200400"/>
          </a:xfrm>
          <a:prstGeom prst="roundRect">
            <a:avLst>
              <a:gd name="adj" fmla="val 3429"/>
            </a:avLst>
          </a:prstGeom>
          <a:solidFill>
            <a:schemeClr val="bg2"/>
          </a:solidFill>
          <a:ln/>
        </p:spPr>
      </p:sp>
      <p:sp>
        <p:nvSpPr>
          <p:cNvPr id="4" name="Label STAR (Y) — saat start"/>
          <p:cNvSpPr/>
          <p:nvPr/>
        </p:nvSpPr>
        <p:spPr>
          <a:xfrm>
            <a:off x="822960" y="1737360"/>
            <a:ext cx="3108960" cy="457200"/>
          </a:xfrm>
          <a:prstGeom prst="roundRect">
            <a:avLst>
              <a:gd name="adj" fmla="val 24000"/>
            </a:avLst>
          </a:prstGeom>
          <a:solidFill>
            <a:schemeClr val="accent1"/>
          </a:solidFill>
          <a:ln/>
        </p:spPr>
      </p:sp>
      <p:sp>
        <p:nvSpPr>
          <p:cNvPr id="5" name="Teks label STAR (Y) — saat start"/>
          <p:cNvSpPr txBox="1"/>
          <p:nvPr/>
        </p:nvSpPr>
        <p:spPr>
          <a:xfrm>
            <a:off x="822960" y="1737360"/>
            <a:ext cx="3108960" cy="457200"/>
          </a:xfrm>
          <a:prstGeom prst="rect">
            <a:avLst/>
          </a:prstGeom>
          <a:noFill/>
          <a:ln/>
        </p:spPr>
        <p:txBody>
          <a:bodyPr wrap="square" lIns="0" tIns="0" rIns="0" bIns="0" rtlCol="0" anchor="ctr"/>
          <a:lstStyle/>
          <a:p>
            <a:pPr algn="ctr" indent="0" marL="0">
              <a:buNone/>
            </a:pPr>
            <a:r>
              <a:rPr lang="en-US" sz="1500" b="1" dirty="0">
                <a:solidFill>
                  <a:schemeClr val="tx1"/>
                </a:solidFill>
              </a:rPr>
              <a:t>STAR (Y) — saat start</a:t>
            </a:r>
            <a:endParaRPr lang="en-US" sz="1500" dirty="0"/>
          </a:p>
        </p:txBody>
      </p:sp>
      <p:sp>
        <p:nvSpPr>
          <p:cNvPr id="6" name="Parameter STAR (Y) — saat start 1"/>
          <p:cNvSpPr txBox="1"/>
          <p:nvPr/>
        </p:nvSpPr>
        <p:spPr>
          <a:xfrm>
            <a:off x="822960" y="2423160"/>
            <a:ext cx="4861408" cy="228600"/>
          </a:xfrm>
          <a:prstGeom prst="rect">
            <a:avLst/>
          </a:prstGeom>
          <a:noFill/>
          <a:ln/>
        </p:spPr>
        <p:txBody>
          <a:bodyPr wrap="square" lIns="0" tIns="0" rIns="0" bIns="0" rtlCol="0" anchor="t"/>
          <a:lstStyle/>
          <a:p>
            <a:pPr indent="0" marL="0">
              <a:buNone/>
            </a:pPr>
            <a:r>
              <a:rPr lang="en-US" sz="1300" dirty="0">
                <a:solidFill>
                  <a:schemeClr val="accent5"/>
                </a:solidFill>
              </a:rPr>
              <a:t>Tegangan belitan</a:t>
            </a:r>
            <a:endParaRPr lang="en-US" sz="1300" dirty="0"/>
          </a:p>
        </p:txBody>
      </p:sp>
      <p:sp>
        <p:nvSpPr>
          <p:cNvPr id="7" name="Nilai STAR (Y) — saat start 1"/>
          <p:cNvSpPr txBox="1"/>
          <p:nvPr/>
        </p:nvSpPr>
        <p:spPr>
          <a:xfrm>
            <a:off x="822960" y="2670048"/>
            <a:ext cx="4861408" cy="365760"/>
          </a:xfrm>
          <a:prstGeom prst="rect">
            <a:avLst/>
          </a:prstGeom>
          <a:noFill/>
          <a:ln/>
        </p:spPr>
        <p:txBody>
          <a:bodyPr wrap="square" lIns="0" tIns="0" rIns="0" bIns="0" rtlCol="0" anchor="t"/>
          <a:lstStyle/>
          <a:p>
            <a:pPr indent="0" marL="0">
              <a:buNone/>
            </a:pPr>
            <a:r>
              <a:rPr lang="en-US" sz="2000" b="1" dirty="0">
                <a:solidFill>
                  <a:schemeClr val="tx1"/>
                </a:solidFill>
              </a:rPr>
              <a:t>220 V (= V / √3)</a:t>
            </a:r>
            <a:endParaRPr lang="en-US" sz="2000" dirty="0"/>
          </a:p>
        </p:txBody>
      </p:sp>
      <p:sp>
        <p:nvSpPr>
          <p:cNvPr id="8" name="Parameter STAR (Y) — saat start 2"/>
          <p:cNvSpPr txBox="1"/>
          <p:nvPr/>
        </p:nvSpPr>
        <p:spPr>
          <a:xfrm>
            <a:off x="822960" y="3136392"/>
            <a:ext cx="4861408" cy="228600"/>
          </a:xfrm>
          <a:prstGeom prst="rect">
            <a:avLst/>
          </a:prstGeom>
          <a:noFill/>
          <a:ln/>
        </p:spPr>
        <p:txBody>
          <a:bodyPr wrap="square" lIns="0" tIns="0" rIns="0" bIns="0" rtlCol="0" anchor="t"/>
          <a:lstStyle/>
          <a:p>
            <a:pPr indent="0" marL="0">
              <a:buNone/>
            </a:pPr>
            <a:r>
              <a:rPr lang="en-US" sz="1300" dirty="0">
                <a:solidFill>
                  <a:schemeClr val="accent5"/>
                </a:solidFill>
              </a:rPr>
              <a:t>Arus line = arus belitan</a:t>
            </a:r>
            <a:endParaRPr lang="en-US" sz="1300" dirty="0"/>
          </a:p>
        </p:txBody>
      </p:sp>
      <p:sp>
        <p:nvSpPr>
          <p:cNvPr id="9" name="Nilai STAR (Y) — saat start 2"/>
          <p:cNvSpPr txBox="1"/>
          <p:nvPr/>
        </p:nvSpPr>
        <p:spPr>
          <a:xfrm>
            <a:off x="822960" y="3383280"/>
            <a:ext cx="4861408" cy="365760"/>
          </a:xfrm>
          <a:prstGeom prst="rect">
            <a:avLst/>
          </a:prstGeom>
          <a:noFill/>
          <a:ln/>
        </p:spPr>
        <p:txBody>
          <a:bodyPr wrap="square" lIns="0" tIns="0" rIns="0" bIns="0" rtlCol="0" anchor="t"/>
          <a:lstStyle/>
          <a:p>
            <a:pPr indent="0" marL="0">
              <a:buNone/>
            </a:pPr>
            <a:r>
              <a:rPr lang="en-US" sz="2000" b="1" dirty="0">
                <a:solidFill>
                  <a:schemeClr val="tx1"/>
                </a:solidFill>
              </a:rPr>
              <a:t>5,1 A (= I_FL / 3)</a:t>
            </a:r>
            <a:endParaRPr lang="en-US" sz="2000" dirty="0"/>
          </a:p>
        </p:txBody>
      </p:sp>
      <p:sp>
        <p:nvSpPr>
          <p:cNvPr id="10" name="Parameter STAR (Y) — saat start 3"/>
          <p:cNvSpPr txBox="1"/>
          <p:nvPr/>
        </p:nvSpPr>
        <p:spPr>
          <a:xfrm>
            <a:off x="822960" y="3849624"/>
            <a:ext cx="4861408" cy="228600"/>
          </a:xfrm>
          <a:prstGeom prst="rect">
            <a:avLst/>
          </a:prstGeom>
          <a:noFill/>
          <a:ln/>
        </p:spPr>
        <p:txBody>
          <a:bodyPr wrap="square" lIns="0" tIns="0" rIns="0" bIns="0" rtlCol="0" anchor="t"/>
          <a:lstStyle/>
          <a:p>
            <a:pPr indent="0" marL="0">
              <a:buNone/>
            </a:pPr>
            <a:r>
              <a:rPr lang="en-US" sz="1300" dirty="0">
                <a:solidFill>
                  <a:schemeClr val="accent5"/>
                </a:solidFill>
              </a:rPr>
              <a:t>Torsi start</a:t>
            </a:r>
            <a:endParaRPr lang="en-US" sz="1300" dirty="0"/>
          </a:p>
        </p:txBody>
      </p:sp>
      <p:sp>
        <p:nvSpPr>
          <p:cNvPr id="11" name="Nilai STAR (Y) — saat start 3"/>
          <p:cNvSpPr txBox="1"/>
          <p:nvPr/>
        </p:nvSpPr>
        <p:spPr>
          <a:xfrm>
            <a:off x="822960" y="4096512"/>
            <a:ext cx="4861408" cy="365760"/>
          </a:xfrm>
          <a:prstGeom prst="rect">
            <a:avLst/>
          </a:prstGeom>
          <a:noFill/>
          <a:ln/>
        </p:spPr>
        <p:txBody>
          <a:bodyPr wrap="square" lIns="0" tIns="0" rIns="0" bIns="0" rtlCol="0" anchor="t"/>
          <a:lstStyle/>
          <a:p>
            <a:pPr indent="0" marL="0">
              <a:buNone/>
            </a:pPr>
            <a:r>
              <a:rPr lang="en-US" sz="2000" b="1" dirty="0">
                <a:solidFill>
                  <a:schemeClr val="tx1"/>
                </a:solidFill>
              </a:rPr>
              <a:t>≈ 1/3 torsi DOL</a:t>
            </a:r>
            <a:endParaRPr lang="en-US" sz="2000" dirty="0"/>
          </a:p>
        </p:txBody>
      </p:sp>
      <p:sp>
        <p:nvSpPr>
          <p:cNvPr id="12" name="Kartu DELTA (Δ) — saat jalan"/>
          <p:cNvSpPr/>
          <p:nvPr/>
        </p:nvSpPr>
        <p:spPr>
          <a:xfrm>
            <a:off x="6233008" y="1463040"/>
            <a:ext cx="5410048" cy="3200400"/>
          </a:xfrm>
          <a:prstGeom prst="roundRect">
            <a:avLst>
              <a:gd name="adj" fmla="val 3429"/>
            </a:avLst>
          </a:prstGeom>
          <a:solidFill>
            <a:schemeClr val="bg2"/>
          </a:solidFill>
          <a:ln/>
        </p:spPr>
      </p:sp>
      <p:sp>
        <p:nvSpPr>
          <p:cNvPr id="13" name="Label DELTA (Δ) — saat jalan"/>
          <p:cNvSpPr/>
          <p:nvPr/>
        </p:nvSpPr>
        <p:spPr>
          <a:xfrm>
            <a:off x="6507328" y="1737360"/>
            <a:ext cx="3108960" cy="457200"/>
          </a:xfrm>
          <a:prstGeom prst="roundRect">
            <a:avLst>
              <a:gd name="adj" fmla="val 24000"/>
            </a:avLst>
          </a:prstGeom>
          <a:solidFill>
            <a:schemeClr val="accent2"/>
          </a:solidFill>
          <a:ln/>
        </p:spPr>
      </p:sp>
      <p:sp>
        <p:nvSpPr>
          <p:cNvPr id="14" name="Teks label DELTA (Δ) — saat jalan"/>
          <p:cNvSpPr txBox="1"/>
          <p:nvPr/>
        </p:nvSpPr>
        <p:spPr>
          <a:xfrm>
            <a:off x="6507328" y="1737360"/>
            <a:ext cx="3108960" cy="457200"/>
          </a:xfrm>
          <a:prstGeom prst="rect">
            <a:avLst/>
          </a:prstGeom>
          <a:noFill/>
          <a:ln/>
        </p:spPr>
        <p:txBody>
          <a:bodyPr wrap="square" lIns="0" tIns="0" rIns="0" bIns="0" rtlCol="0" anchor="ctr"/>
          <a:lstStyle/>
          <a:p>
            <a:pPr algn="ctr" indent="0" marL="0">
              <a:buNone/>
            </a:pPr>
            <a:r>
              <a:rPr lang="en-US" sz="1500" b="1" dirty="0">
                <a:solidFill>
                  <a:schemeClr val="bg1"/>
                </a:solidFill>
              </a:rPr>
              <a:t>DELTA (Δ) — saat jalan</a:t>
            </a:r>
            <a:endParaRPr lang="en-US" sz="1500" dirty="0"/>
          </a:p>
        </p:txBody>
      </p:sp>
      <p:sp>
        <p:nvSpPr>
          <p:cNvPr id="15" name="Parameter DELTA (Δ) — saat jalan 1"/>
          <p:cNvSpPr txBox="1"/>
          <p:nvPr/>
        </p:nvSpPr>
        <p:spPr>
          <a:xfrm>
            <a:off x="6507328" y="2423160"/>
            <a:ext cx="4861408" cy="228600"/>
          </a:xfrm>
          <a:prstGeom prst="rect">
            <a:avLst/>
          </a:prstGeom>
          <a:noFill/>
          <a:ln/>
        </p:spPr>
        <p:txBody>
          <a:bodyPr wrap="square" lIns="0" tIns="0" rIns="0" bIns="0" rtlCol="0" anchor="t"/>
          <a:lstStyle/>
          <a:p>
            <a:pPr indent="0" marL="0">
              <a:buNone/>
            </a:pPr>
            <a:r>
              <a:rPr lang="en-US" sz="1300" dirty="0">
                <a:solidFill>
                  <a:schemeClr val="accent5"/>
                </a:solidFill>
              </a:rPr>
              <a:t>Tegangan belitan</a:t>
            </a:r>
            <a:endParaRPr lang="en-US" sz="1300" dirty="0"/>
          </a:p>
        </p:txBody>
      </p:sp>
      <p:sp>
        <p:nvSpPr>
          <p:cNvPr id="16" name="Nilai DELTA (Δ) — saat jalan 1"/>
          <p:cNvSpPr txBox="1"/>
          <p:nvPr/>
        </p:nvSpPr>
        <p:spPr>
          <a:xfrm>
            <a:off x="6507328" y="2670048"/>
            <a:ext cx="4861408" cy="365760"/>
          </a:xfrm>
          <a:prstGeom prst="rect">
            <a:avLst/>
          </a:prstGeom>
          <a:noFill/>
          <a:ln/>
        </p:spPr>
        <p:txBody>
          <a:bodyPr wrap="square" lIns="0" tIns="0" rIns="0" bIns="0" rtlCol="0" anchor="t"/>
          <a:lstStyle/>
          <a:p>
            <a:pPr indent="0" marL="0">
              <a:buNone/>
            </a:pPr>
            <a:r>
              <a:rPr lang="en-US" sz="2000" b="1" dirty="0">
                <a:solidFill>
                  <a:schemeClr val="tx1"/>
                </a:solidFill>
              </a:rPr>
              <a:t>380 V (tegangan penuh)</a:t>
            </a:r>
            <a:endParaRPr lang="en-US" sz="2000" dirty="0"/>
          </a:p>
        </p:txBody>
      </p:sp>
      <p:sp>
        <p:nvSpPr>
          <p:cNvPr id="17" name="Parameter DELTA (Δ) — saat jalan 2"/>
          <p:cNvSpPr txBox="1"/>
          <p:nvPr/>
        </p:nvSpPr>
        <p:spPr>
          <a:xfrm>
            <a:off x="6507328" y="3136392"/>
            <a:ext cx="4861408" cy="228600"/>
          </a:xfrm>
          <a:prstGeom prst="rect">
            <a:avLst/>
          </a:prstGeom>
          <a:noFill/>
          <a:ln/>
        </p:spPr>
        <p:txBody>
          <a:bodyPr wrap="square" lIns="0" tIns="0" rIns="0" bIns="0" rtlCol="0" anchor="t"/>
          <a:lstStyle/>
          <a:p>
            <a:pPr indent="0" marL="0">
              <a:buNone/>
            </a:pPr>
            <a:r>
              <a:rPr lang="en-US" sz="1300" dirty="0">
                <a:solidFill>
                  <a:schemeClr val="accent5"/>
                </a:solidFill>
              </a:rPr>
              <a:t>Arus belitan</a:t>
            </a:r>
            <a:endParaRPr lang="en-US" sz="1300" dirty="0"/>
          </a:p>
        </p:txBody>
      </p:sp>
      <p:sp>
        <p:nvSpPr>
          <p:cNvPr id="18" name="Nilai DELTA (Δ) — saat jalan 2"/>
          <p:cNvSpPr txBox="1"/>
          <p:nvPr/>
        </p:nvSpPr>
        <p:spPr>
          <a:xfrm>
            <a:off x="6507328" y="3383280"/>
            <a:ext cx="4861408" cy="365760"/>
          </a:xfrm>
          <a:prstGeom prst="rect">
            <a:avLst/>
          </a:prstGeom>
          <a:noFill/>
          <a:ln/>
        </p:spPr>
        <p:txBody>
          <a:bodyPr wrap="square" lIns="0" tIns="0" rIns="0" bIns="0" rtlCol="0" anchor="t"/>
          <a:lstStyle/>
          <a:p>
            <a:pPr indent="0" marL="0">
              <a:buNone/>
            </a:pPr>
            <a:r>
              <a:rPr lang="en-US" sz="2000" b="1" dirty="0">
                <a:solidFill>
                  <a:schemeClr val="tx1"/>
                </a:solidFill>
              </a:rPr>
              <a:t>8,8 A (= I_FL / √3)</a:t>
            </a:r>
            <a:endParaRPr lang="en-US" sz="2000" dirty="0"/>
          </a:p>
        </p:txBody>
      </p:sp>
      <p:sp>
        <p:nvSpPr>
          <p:cNvPr id="19" name="Parameter DELTA (Δ) — saat jalan 3"/>
          <p:cNvSpPr txBox="1"/>
          <p:nvPr/>
        </p:nvSpPr>
        <p:spPr>
          <a:xfrm>
            <a:off x="6507328" y="3849624"/>
            <a:ext cx="4861408" cy="228600"/>
          </a:xfrm>
          <a:prstGeom prst="rect">
            <a:avLst/>
          </a:prstGeom>
          <a:noFill/>
          <a:ln/>
        </p:spPr>
        <p:txBody>
          <a:bodyPr wrap="square" lIns="0" tIns="0" rIns="0" bIns="0" rtlCol="0" anchor="t"/>
          <a:lstStyle/>
          <a:p>
            <a:pPr indent="0" marL="0">
              <a:buNone/>
            </a:pPr>
            <a:r>
              <a:rPr lang="en-US" sz="1300" dirty="0">
                <a:solidFill>
                  <a:schemeClr val="accent5"/>
                </a:solidFill>
              </a:rPr>
              <a:t>Arus line</a:t>
            </a:r>
            <a:endParaRPr lang="en-US" sz="1300" dirty="0"/>
          </a:p>
        </p:txBody>
      </p:sp>
      <p:sp>
        <p:nvSpPr>
          <p:cNvPr id="20" name="Nilai DELTA (Δ) — saat jalan 3"/>
          <p:cNvSpPr txBox="1"/>
          <p:nvPr/>
        </p:nvSpPr>
        <p:spPr>
          <a:xfrm>
            <a:off x="6507328" y="4096512"/>
            <a:ext cx="4861408" cy="365760"/>
          </a:xfrm>
          <a:prstGeom prst="rect">
            <a:avLst/>
          </a:prstGeom>
          <a:noFill/>
          <a:ln/>
        </p:spPr>
        <p:txBody>
          <a:bodyPr wrap="square" lIns="0" tIns="0" rIns="0" bIns="0" rtlCol="0" anchor="t"/>
          <a:lstStyle/>
          <a:p>
            <a:pPr indent="0" marL="0">
              <a:buNone/>
            </a:pPr>
            <a:r>
              <a:rPr lang="en-US" sz="2000" b="1" dirty="0">
                <a:solidFill>
                  <a:schemeClr val="tx1"/>
                </a:solidFill>
              </a:rPr>
              <a:t>15,2 A (= I_FL)</a:t>
            </a:r>
            <a:endParaRPr lang="en-US" sz="2000" dirty="0"/>
          </a:p>
        </p:txBody>
      </p:sp>
      <p:sp>
        <p:nvSpPr>
          <p:cNvPr id="21" name="Kartu aturan"/>
          <p:cNvSpPr/>
          <p:nvPr/>
        </p:nvSpPr>
        <p:spPr>
          <a:xfrm>
            <a:off x="548640" y="4892040"/>
            <a:ext cx="11094415" cy="1188720"/>
          </a:xfrm>
          <a:prstGeom prst="roundRect">
            <a:avLst>
              <a:gd name="adj" fmla="val 9231"/>
            </a:avLst>
          </a:prstGeom>
          <a:solidFill>
            <a:schemeClr val="tx1"/>
          </a:solidFill>
          <a:ln/>
        </p:spPr>
      </p:sp>
      <p:sp>
        <p:nvSpPr>
          <p:cNvPr id="22" name="Faktor 1"/>
          <p:cNvSpPr txBox="1"/>
          <p:nvPr/>
        </p:nvSpPr>
        <p:spPr>
          <a:xfrm>
            <a:off x="914400" y="5029200"/>
            <a:ext cx="3291840" cy="548640"/>
          </a:xfrm>
          <a:prstGeom prst="rect">
            <a:avLst/>
          </a:prstGeom>
          <a:noFill/>
          <a:ln/>
        </p:spPr>
        <p:txBody>
          <a:bodyPr wrap="square" lIns="0" tIns="0" rIns="0" bIns="0" rtlCol="0" anchor="ctr"/>
          <a:lstStyle/>
          <a:p>
            <a:pPr indent="0" marL="0">
              <a:buNone/>
            </a:pPr>
            <a:r>
              <a:rPr lang="en-US" sz="3000" b="1" dirty="0">
                <a:solidFill>
                  <a:schemeClr val="accent1"/>
                </a:solidFill>
              </a:rPr>
              <a:t>0,58 × I_FL</a:t>
            </a:r>
            <a:endParaRPr lang="en-US" sz="3000" dirty="0"/>
          </a:p>
        </p:txBody>
      </p:sp>
      <p:sp>
        <p:nvSpPr>
          <p:cNvPr id="23" name="Label faktor 1"/>
          <p:cNvSpPr txBox="1"/>
          <p:nvPr/>
        </p:nvSpPr>
        <p:spPr>
          <a:xfrm>
            <a:off x="914400" y="5577840"/>
            <a:ext cx="3291840" cy="320040"/>
          </a:xfrm>
          <a:prstGeom prst="rect">
            <a:avLst/>
          </a:prstGeom>
          <a:noFill/>
          <a:ln/>
        </p:spPr>
        <p:txBody>
          <a:bodyPr wrap="square" lIns="0" tIns="0" rIns="0" bIns="0" rtlCol="0" anchor="t"/>
          <a:lstStyle/>
          <a:p>
            <a:pPr indent="0" marL="0">
              <a:buNone/>
            </a:pPr>
            <a:r>
              <a:rPr lang="en-US" sz="1400" dirty="0">
                <a:solidFill>
                  <a:schemeClr val="bg1"/>
                </a:solidFill>
              </a:rPr>
              <a:t>K1, K3, dan overload relay</a:t>
            </a:r>
            <a:endParaRPr lang="en-US" sz="1400" dirty="0"/>
          </a:p>
        </p:txBody>
      </p:sp>
      <p:sp>
        <p:nvSpPr>
          <p:cNvPr id="24" name="Faktor 2"/>
          <p:cNvSpPr txBox="1"/>
          <p:nvPr/>
        </p:nvSpPr>
        <p:spPr>
          <a:xfrm>
            <a:off x="4526280" y="5029200"/>
            <a:ext cx="3291840" cy="548640"/>
          </a:xfrm>
          <a:prstGeom prst="rect">
            <a:avLst/>
          </a:prstGeom>
          <a:noFill/>
          <a:ln/>
        </p:spPr>
        <p:txBody>
          <a:bodyPr wrap="square" lIns="0" tIns="0" rIns="0" bIns="0" rtlCol="0" anchor="ctr"/>
          <a:lstStyle/>
          <a:p>
            <a:pPr indent="0" marL="0">
              <a:buNone/>
            </a:pPr>
            <a:r>
              <a:rPr lang="en-US" sz="3000" b="1" dirty="0">
                <a:solidFill>
                  <a:schemeClr val="accent1"/>
                </a:solidFill>
              </a:rPr>
              <a:t>0,33 × I_FL</a:t>
            </a:r>
            <a:endParaRPr lang="en-US" sz="3000" dirty="0"/>
          </a:p>
        </p:txBody>
      </p:sp>
      <p:sp>
        <p:nvSpPr>
          <p:cNvPr id="25" name="Label faktor 2"/>
          <p:cNvSpPr txBox="1"/>
          <p:nvPr/>
        </p:nvSpPr>
        <p:spPr>
          <a:xfrm>
            <a:off x="4526280" y="5577840"/>
            <a:ext cx="3291840" cy="320040"/>
          </a:xfrm>
          <a:prstGeom prst="rect">
            <a:avLst/>
          </a:prstGeom>
          <a:noFill/>
          <a:ln/>
        </p:spPr>
        <p:txBody>
          <a:bodyPr wrap="square" lIns="0" tIns="0" rIns="0" bIns="0" rtlCol="0" anchor="t"/>
          <a:lstStyle/>
          <a:p>
            <a:pPr indent="0" marL="0">
              <a:buNone/>
            </a:pPr>
            <a:r>
              <a:rPr lang="en-US" sz="1400" dirty="0">
                <a:solidFill>
                  <a:schemeClr val="bg1"/>
                </a:solidFill>
              </a:rPr>
              <a:t>K2 (kontaktor star)</a:t>
            </a:r>
            <a:endParaRPr lang="en-US" sz="1400" dirty="0"/>
          </a:p>
        </p:txBody>
      </p:sp>
      <p:sp>
        <p:nvSpPr>
          <p:cNvPr id="26" name="Faktor 3"/>
          <p:cNvSpPr txBox="1"/>
          <p:nvPr/>
        </p:nvSpPr>
        <p:spPr>
          <a:xfrm>
            <a:off x="8138160" y="5029200"/>
            <a:ext cx="3291840" cy="548640"/>
          </a:xfrm>
          <a:prstGeom prst="rect">
            <a:avLst/>
          </a:prstGeom>
          <a:noFill/>
          <a:ln/>
        </p:spPr>
        <p:txBody>
          <a:bodyPr wrap="square" lIns="0" tIns="0" rIns="0" bIns="0" rtlCol="0" anchor="ctr"/>
          <a:lstStyle/>
          <a:p>
            <a:pPr indent="0" marL="0">
              <a:buNone/>
            </a:pPr>
            <a:r>
              <a:rPr lang="en-US" sz="3000" b="1" dirty="0">
                <a:solidFill>
                  <a:schemeClr val="accent1"/>
                </a:solidFill>
              </a:rPr>
              <a:t>1/3</a:t>
            </a:r>
            <a:endParaRPr lang="en-US" sz="3000" dirty="0"/>
          </a:p>
        </p:txBody>
      </p:sp>
      <p:sp>
        <p:nvSpPr>
          <p:cNvPr id="27" name="Label faktor 3"/>
          <p:cNvSpPr txBox="1"/>
          <p:nvPr/>
        </p:nvSpPr>
        <p:spPr>
          <a:xfrm>
            <a:off x="8138160" y="5577840"/>
            <a:ext cx="3291840" cy="320040"/>
          </a:xfrm>
          <a:prstGeom prst="rect">
            <a:avLst/>
          </a:prstGeom>
          <a:noFill/>
          <a:ln/>
        </p:spPr>
        <p:txBody>
          <a:bodyPr wrap="square" lIns="0" tIns="0" rIns="0" bIns="0" rtlCol="0" anchor="t"/>
          <a:lstStyle/>
          <a:p>
            <a:pPr indent="0" marL="0">
              <a:buNone/>
            </a:pPr>
            <a:r>
              <a:rPr lang="en-US" sz="1400" dirty="0">
                <a:solidFill>
                  <a:schemeClr val="bg1"/>
                </a:solidFill>
              </a:rPr>
              <a:t>arus dan torsi start dibanding DOL</a:t>
            </a:r>
            <a:endParaRPr lang="en-US" sz="1400" dirty="0"/>
          </a:p>
        </p:txBody>
      </p:sp>
      <p:sp>
        <p:nvSpPr>
          <p:cNvPr id="28" name="Catatan syarat"/>
          <p:cNvSpPr txBox="1"/>
          <p:nvPr/>
        </p:nvSpPr>
        <p:spPr>
          <a:xfrm>
            <a:off x="548640" y="6236208"/>
            <a:ext cx="9601200" cy="274320"/>
          </a:xfrm>
          <a:prstGeom prst="rect">
            <a:avLst/>
          </a:prstGeom>
          <a:noFill/>
          <a:ln/>
        </p:spPr>
        <p:txBody>
          <a:bodyPr wrap="square" lIns="0" tIns="0" rIns="0" bIns="0" rtlCol="0" anchor="t"/>
          <a:lstStyle/>
          <a:p>
            <a:pPr indent="0" marL="0">
              <a:buNone/>
            </a:pPr>
            <a:r>
              <a:rPr lang="en-US" sz="1200" dirty="0">
                <a:solidFill>
                  <a:schemeClr val="accent5"/>
                </a:solidFill>
              </a:rPr>
              <a:t>Syarat: motor 6 terminal dengan nameplate Δ / 380 V. K1 = kontaktor utama, K2 = star, K3 = delta.</a:t>
            </a:r>
            <a:endParaRPr lang="en-US" sz="12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Sizing Komponen Star-Delta</a:t>
            </a:r>
            <a:endParaRPr lang="en-US" sz="3600" dirty="0"/>
          </a:p>
        </p:txBody>
      </p:sp>
      <p:graphicFrame>
        <p:nvGraphicFramePr>
          <p:cNvPr id="9" name="Tabel sizing star-delta"/>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108960"/>
                <a:gridCol w="4206240"/>
                <a:gridCol w="3779215"/>
              </a:tblGrid>
              <a:tr h="457200">
                <a:tc>
                  <a:txBody>
                    <a:bodyPr/>
                    <a:lstStyle/>
                    <a:p>
                      <a:pPr indent="0" marL="0">
                        <a:buNone/>
                      </a:pPr>
                      <a:r>
                        <a:rPr lang="en-US" sz="1500" b="1" dirty="0">
                          <a:solidFill>
                            <a:schemeClr val="bg1"/>
                          </a:solidFill>
                        </a:rPr>
                        <a:t>Komponen</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Aturan</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Hasil (motor 7,5 kW)</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r>
              <a:tr h="457200">
                <a:tc>
                  <a:txBody>
                    <a:bodyPr/>
                    <a:lstStyle/>
                    <a:p>
                      <a:pPr indent="0" marL="0">
                        <a:buNone/>
                      </a:pPr>
                      <a:r>
                        <a:rPr lang="en-US" sz="1500" b="1" dirty="0">
                          <a:solidFill>
                            <a:schemeClr val="tx1"/>
                          </a:solidFill>
                        </a:rPr>
                        <a:t>Arus line I_FL</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7.500 / (√3 × 380 × 0,85 × 0,88)</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15,2 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MCB</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 1,25 × I_FL, kurva C</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20 A, 3P, kurva C</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K1 – kontaktor utama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0,58 × I_FL = 8,8 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12 A (AC-3)</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K2 – kontaktor star</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0,33 × I_FL = 5,0 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9 A (AC-3)</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K3 – kontaktor delta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0,58 × I_FL = 8,8 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12 A (AC-3)</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Overload relay</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Setel 0,58 × I_FL</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7–10 A, setel 8,8 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Kabel supply</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KHA ≥ 1,25 × I_FL = 19 A</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4 × 2,5 mm²</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rPr>
                        <a:t>Kabel ke motor</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KHA ≥ 1,25 × 8,8 = 11 A per urat</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6 × 1,5 mm²</a:t>
                      </a:r>
                      <a:endParaRPr lang="en-US" sz="1500" dirty="0"/>
                    </a:p>
                  </a:txBody>
                  <a:tcPr marL="109728" marR="109728"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bl>
          </a:graphicData>
        </a:graphic>
      </p:graphicFrame>
      <p:sp>
        <p:nvSpPr>
          <p:cNvPr id="4" name="Catatan urutan kerja"/>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400" b="1" dirty="0">
                <a:solidFill>
                  <a:schemeClr val="tx1"/>
                </a:solidFill>
              </a:rPr>
              <a:t>Urutan kerja: </a:t>
            </a:r>
            <a:pPr indent="0" marL="0">
              <a:buNone/>
            </a:pPr>
            <a:r>
              <a:rPr lang="en-US" sz="1400" dirty="0">
                <a:solidFill>
                  <a:schemeClr val="tx1"/>
                </a:solidFill>
              </a:rPr>
              <a:t>K1 + K2 (star) → timer 5–10 detik → K2 lepas, K3 (delta) masuk. K2 dan K3 wajib interlock.</a:t>
            </a:r>
            <a:endParaRPr lang="en-US" sz="1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DOL vs Star-Delta: Arus Starting</a:t>
            </a:r>
            <a:endParaRPr lang="en-US" sz="3600" dirty="0"/>
          </a:p>
        </p:txBody>
      </p:sp>
      <p:graphicFrame>
        <p:nvGraphicFramePr>
          <p:cNvPr id="3" name="Grafik arus start" descr=""/>
          <p:cNvGraphicFramePr/>
          <p:nvPr/>
        </p:nvGraphicFramePr>
        <p:xfrm>
          <a:off x="548640" y="1463040"/>
          <a:ext cx="557784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el perbandingan"/>
          <p:cNvGraphicFramePr>
            <a:graphicFrameLocks noGrp="1"/>
          </p:cNvGraphicFramePr>
          <p:nvPr>
            <p:extLst>
              <p:ext uri="{D42A27DB-BD31-4B8C-83A1-F6EECF244321}">
                <p14:modId xmlns:p14="http://schemas.microsoft.com/office/powerpoint/2010/main" val="1579011935"/>
              </p:ext>
            </p:extLst>
          </p:nvPr>
        </p:nvGraphicFramePr>
        <p:xfrm>
          <a:off x="6492240" y="1554480"/>
          <a:ext cx="5150815" cy="914400"/>
        </p:xfrm>
        <a:graphic>
          <a:graphicData uri="http://schemas.openxmlformats.org/drawingml/2006/table">
            <a:tbl>
              <a:tblPr/>
              <a:tblGrid>
                <a:gridCol w="1371600"/>
                <a:gridCol w="1828800"/>
                <a:gridCol w="1950415"/>
              </a:tblGrid>
              <a:tr h="502920">
                <a:tc>
                  <a:txBody>
                    <a:bodyPr/>
                    <a:lstStyle/>
                    <a:p>
                      <a:pPr indent="0" marL="0">
                        <a:buNone/>
                      </a:pPr>
                      <a:r>
                        <a:rPr lang="en-US" sz="1400" b="1" dirty="0">
                          <a:solidFill>
                            <a:schemeClr val="bg1"/>
                          </a:solidFill>
                        </a:rPr>
                        <a:t>Aspek</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DOL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Star-delta</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r>
              <a:tr h="502920">
                <a:tc>
                  <a:txBody>
                    <a:bodyPr/>
                    <a:lstStyle/>
                    <a:p>
                      <a:pPr indent="0" marL="0">
                        <a:buNone/>
                      </a:pPr>
                      <a:r>
                        <a:rPr lang="en-US" sz="1400" b="1" dirty="0">
                          <a:solidFill>
                            <a:schemeClr val="tx1"/>
                          </a:solidFill>
                        </a:rPr>
                        <a:t>Arus start</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6–8 ×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2–2,5 ×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Torsi start</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100 %</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33 %</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Kontaktor</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 + timer</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1005840">
                <a:tc>
                  <a:txBody>
                    <a:bodyPr/>
                    <a:lstStyle/>
                    <a:p>
                      <a:pPr indent="0" marL="0">
                        <a:buNone/>
                      </a:pPr>
                      <a:r>
                        <a:rPr lang="en-US" sz="1400" b="1" dirty="0">
                          <a:solidFill>
                            <a:schemeClr val="tx1"/>
                          </a:solidFill>
                        </a:rPr>
                        <a:t>Cocok untuk</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Motor kecil; jaringan kuat</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Motor sedang; beban ringan saat start</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bl>
          </a:graphicData>
        </a:graphic>
      </p:graphicFrame>
      <p:sp>
        <p:nvSpPr>
          <p:cNvPr id="5" name="Kartu perhatian"/>
          <p:cNvSpPr/>
          <p:nvPr/>
        </p:nvSpPr>
        <p:spPr>
          <a:xfrm>
            <a:off x="6492240" y="4846320"/>
            <a:ext cx="5150815" cy="1234440"/>
          </a:xfrm>
          <a:prstGeom prst="roundRect">
            <a:avLst>
              <a:gd name="adj" fmla="val 8889"/>
            </a:avLst>
          </a:prstGeom>
          <a:solidFill>
            <a:schemeClr val="bg2"/>
          </a:solidFill>
          <a:ln/>
        </p:spPr>
      </p:sp>
      <p:sp>
        <p:nvSpPr>
          <p:cNvPr id="6" name="Perhatian lingkaran"/>
          <p:cNvSpPr/>
          <p:nvPr/>
        </p:nvSpPr>
        <p:spPr>
          <a:xfrm>
            <a:off x="6720840" y="5166360"/>
            <a:ext cx="548640" cy="548640"/>
          </a:xfrm>
          <a:prstGeom prst="ellipse">
            <a:avLst/>
          </a:prstGeom>
          <a:solidFill>
            <a:schemeClr val="accent1"/>
          </a:solidFill>
          <a:ln/>
        </p:spPr>
      </p:sp>
      <p:pic>
        <p:nvPicPr>
          <p:cNvPr id="7" name="Perhatian ikon" descr="Ikon Perhatian">    </p:cNvPr>
          <p:cNvPicPr>
            <a:picLocks noChangeAspect="1"/>
          </p:cNvPicPr>
          <p:nvPr/>
        </p:nvPicPr>
        <p:blipFill>
          <a:blip r:embed="rId2"/>
          <a:stretch>
            <a:fillRect/>
          </a:stretch>
        </p:blipFill>
        <p:spPr>
          <a:xfrm>
            <a:off x="6868973" y="5314493"/>
            <a:ext cx="252374" cy="252374"/>
          </a:xfrm>
          <a:prstGeom prst="rect">
            <a:avLst/>
          </a:prstGeom>
        </p:spPr>
      </p:pic>
      <p:sp>
        <p:nvSpPr>
          <p:cNvPr id="8" name="Isi perhatian"/>
          <p:cNvSpPr txBox="1"/>
          <p:nvPr/>
        </p:nvSpPr>
        <p:spPr>
          <a:xfrm>
            <a:off x="7498080" y="5029200"/>
            <a:ext cx="3931920" cy="914400"/>
          </a:xfrm>
          <a:prstGeom prst="rect">
            <a:avLst/>
          </a:prstGeom>
          <a:noFill/>
          <a:ln/>
        </p:spPr>
        <p:txBody>
          <a:bodyPr wrap="square" lIns="0" tIns="0" rIns="0" bIns="0" rtlCol="0" anchor="ctr"/>
          <a:lstStyle/>
          <a:p>
            <a:pPr indent="0" marL="0">
              <a:buNone/>
            </a:pPr>
            <a:r>
              <a:rPr lang="en-US" sz="1400" dirty="0">
                <a:solidFill>
                  <a:schemeClr val="tx1"/>
                </a:solidFill>
              </a:rPr>
              <a:t>Star-delta hanya cocok bila beban ringan saat start, karena torsi turun menjadi sekitar 1/3.</a:t>
            </a:r>
            <a:endParaRPr lang="en-US" sz="1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Cheat Sheet Sizing</a:t>
            </a:r>
            <a:endParaRPr lang="en-US" sz="3600" dirty="0"/>
          </a:p>
        </p:txBody>
      </p:sp>
      <p:graphicFrame>
        <p:nvGraphicFramePr>
          <p:cNvPr id="11" name="Tabel cheat sheet"/>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737360"/>
                <a:gridCol w="3200400"/>
                <a:gridCol w="3566160"/>
                <a:gridCol w="2590495"/>
              </a:tblGrid>
              <a:tr h="502920">
                <a:tc>
                  <a:txBody>
                    <a:bodyPr/>
                    <a:lstStyle/>
                    <a:p>
                      <a:pPr indent="0" marL="0">
                        <a:buNone/>
                      </a:pPr>
                      <a:r>
                        <a:rPr lang="en-US" sz="1400" b="1" dirty="0">
                          <a:solidFill>
                            <a:schemeClr val="bg1"/>
                          </a:solidFill>
                        </a:rPr>
                        <a:t>Komponen</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Starter DOL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Star-Delta</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Catatan</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tx1"/>
                    </a:solidFill>
                  </a:tcPr>
                </a:tc>
              </a:tr>
              <a:tr h="777240">
                <a:tc>
                  <a:txBody>
                    <a:bodyPr/>
                    <a:lstStyle/>
                    <a:p>
                      <a:pPr indent="0" marL="0">
                        <a:buNone/>
                      </a:pPr>
                      <a:r>
                        <a:rPr lang="en-US" sz="1400" b="1" dirty="0">
                          <a:solidFill>
                            <a:schemeClr val="tx1"/>
                          </a:solidFill>
                        </a:rPr>
                        <a:t>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 / (√3·V·cos φ·η) ≈ 2 A per kW (380 V)</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Sama (arus line), jadi acuan semua faktor</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Utamakan nilai nameplate</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1"/>
                          </a:solidFill>
                        </a:rPr>
                        <a:t>MCB</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1,25 × I_FL → rating standar; kurva D</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1,25 × I_FL; kurva C</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 kutub; cek kapasitas pemutusan (kA)</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1"/>
                          </a:solidFill>
                        </a:rPr>
                        <a:t>Kabel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KHA ≥ 1,25 × I_FL dan ≥ rating MCB</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Supply seperti DOL; ke motor KHA ≥ 1,25 × 0,58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Cek drop tegangan ≤ 5 %</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1"/>
                          </a:solidFill>
                        </a:rPr>
                        <a:t>Kontaktor</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Ie (AC-3) ≥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K1, K3 ≥ 0,58 I_FL; K2 ≥ 0,33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Kategori AC-3</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1"/>
                          </a:solidFill>
                        </a:rPr>
                        <a:t>Overload relay</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Setel =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Setel = 0,58 × I_FL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Class 10; rentang mencakup nilai setel</a:t>
                      </a:r>
                      <a:endParaRPr lang="en-US" sz="1400" dirty="0"/>
                    </a:p>
                  </a:txBody>
                  <a:tcPr marL="91440" marR="91440" marT="45720" marB="45720" anchor="ctr">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Cara Memakai Cheat Sheet</a:t>
            </a:r>
            <a:endParaRPr lang="en-US" sz="3600" dirty="0"/>
          </a:p>
        </p:txBody>
      </p:sp>
      <p:sp>
        <p:nvSpPr>
          <p:cNvPr id="3" name="Cara 1 lingkaran"/>
          <p:cNvSpPr/>
          <p:nvPr/>
        </p:nvSpPr>
        <p:spPr>
          <a:xfrm>
            <a:off x="548640" y="1508760"/>
            <a:ext cx="640080" cy="640080"/>
          </a:xfrm>
          <a:prstGeom prst="ellipse">
            <a:avLst/>
          </a:prstGeom>
          <a:solidFill>
            <a:schemeClr val="accent1"/>
          </a:solidFill>
          <a:ln/>
        </p:spPr>
      </p:sp>
      <p:sp>
        <p:nvSpPr>
          <p:cNvPr id="4" name="Cara 1 angka"/>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2100" b="1" dirty="0">
                <a:solidFill>
                  <a:schemeClr val="tx1"/>
                </a:solidFill>
              </a:rPr>
              <a:t>1</a:t>
            </a:r>
            <a:endParaRPr lang="en-US" sz="2100" dirty="0"/>
          </a:p>
        </p:txBody>
      </p:sp>
      <p:sp>
        <p:nvSpPr>
          <p:cNvPr id="5" name="Judul cara 1"/>
          <p:cNvSpPr txBox="1"/>
          <p:nvPr/>
        </p:nvSpPr>
        <p:spPr>
          <a:xfrm>
            <a:off x="1417320" y="1508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Baca nameplate</a:t>
            </a:r>
            <a:endParaRPr lang="en-US" sz="1800" dirty="0"/>
          </a:p>
        </p:txBody>
      </p:sp>
      <p:sp>
        <p:nvSpPr>
          <p:cNvPr id="6" name="Isi cara 1"/>
          <p:cNvSpPr txBox="1"/>
          <p:nvPr/>
        </p:nvSpPr>
        <p:spPr>
          <a:xfrm>
            <a:off x="1417320" y="1892808"/>
            <a:ext cx="4572000" cy="594360"/>
          </a:xfrm>
          <a:prstGeom prst="rect">
            <a:avLst/>
          </a:prstGeom>
          <a:noFill/>
          <a:ln/>
        </p:spPr>
        <p:txBody>
          <a:bodyPr wrap="square" lIns="0" tIns="0" rIns="0" bIns="0" rtlCol="0" anchor="t"/>
          <a:lstStyle/>
          <a:p>
            <a:pPr indent="0" marL="0">
              <a:buNone/>
            </a:pPr>
            <a:r>
              <a:rPr lang="en-US" sz="1400" dirty="0">
                <a:solidFill>
                  <a:schemeClr val="tx1"/>
                </a:solidFill>
              </a:rPr>
              <a:t>Catat daya, tegangan, dan arus nominal motor.</a:t>
            </a:r>
            <a:endParaRPr lang="en-US" sz="1400" dirty="0"/>
          </a:p>
        </p:txBody>
      </p:sp>
      <p:sp>
        <p:nvSpPr>
          <p:cNvPr id="7" name="Cara 2 lingkaran"/>
          <p:cNvSpPr/>
          <p:nvPr/>
        </p:nvSpPr>
        <p:spPr>
          <a:xfrm>
            <a:off x="548640" y="2651760"/>
            <a:ext cx="640080" cy="640080"/>
          </a:xfrm>
          <a:prstGeom prst="ellipse">
            <a:avLst/>
          </a:prstGeom>
          <a:solidFill>
            <a:schemeClr val="accent1"/>
          </a:solidFill>
          <a:ln/>
        </p:spPr>
      </p:sp>
      <p:sp>
        <p:nvSpPr>
          <p:cNvPr id="8" name="Cara 2 angka"/>
          <p:cNvSpPr txBox="1"/>
          <p:nvPr/>
        </p:nvSpPr>
        <p:spPr>
          <a:xfrm>
            <a:off x="548640" y="2651760"/>
            <a:ext cx="640080" cy="640080"/>
          </a:xfrm>
          <a:prstGeom prst="rect">
            <a:avLst/>
          </a:prstGeom>
          <a:noFill/>
          <a:ln/>
        </p:spPr>
        <p:txBody>
          <a:bodyPr wrap="square" lIns="0" tIns="0" rIns="0" bIns="0" rtlCol="0" anchor="ctr"/>
          <a:lstStyle/>
          <a:p>
            <a:pPr algn="ctr" indent="0" marL="0">
              <a:buNone/>
            </a:pPr>
            <a:r>
              <a:rPr lang="en-US" sz="2100" b="1" dirty="0">
                <a:solidFill>
                  <a:schemeClr val="tx1"/>
                </a:solidFill>
              </a:rPr>
              <a:t>2</a:t>
            </a:r>
            <a:endParaRPr lang="en-US" sz="2100" dirty="0"/>
          </a:p>
        </p:txBody>
      </p:sp>
      <p:sp>
        <p:nvSpPr>
          <p:cNvPr id="9" name="Judul cara 2"/>
          <p:cNvSpPr txBox="1"/>
          <p:nvPr/>
        </p:nvSpPr>
        <p:spPr>
          <a:xfrm>
            <a:off x="1417320" y="2651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Tentukan I_FL</a:t>
            </a:r>
            <a:endParaRPr lang="en-US" sz="1800" dirty="0"/>
          </a:p>
        </p:txBody>
      </p:sp>
      <p:sp>
        <p:nvSpPr>
          <p:cNvPr id="10" name="Isi cara 2"/>
          <p:cNvSpPr txBox="1"/>
          <p:nvPr/>
        </p:nvSpPr>
        <p:spPr>
          <a:xfrm>
            <a:off x="1417320" y="3035808"/>
            <a:ext cx="4572000" cy="594360"/>
          </a:xfrm>
          <a:prstGeom prst="rect">
            <a:avLst/>
          </a:prstGeom>
          <a:noFill/>
          <a:ln/>
        </p:spPr>
        <p:txBody>
          <a:bodyPr wrap="square" lIns="0" tIns="0" rIns="0" bIns="0" rtlCol="0" anchor="t"/>
          <a:lstStyle/>
          <a:p>
            <a:pPr indent="0" marL="0">
              <a:buNone/>
            </a:pPr>
            <a:r>
              <a:rPr lang="en-US" sz="1400" dirty="0">
                <a:solidFill>
                  <a:schemeClr val="tx1"/>
                </a:solidFill>
              </a:rPr>
              <a:t>Pakai nameplate, atau hitung / aturan 2 A per kW.</a:t>
            </a:r>
            <a:endParaRPr lang="en-US" sz="1400" dirty="0"/>
          </a:p>
        </p:txBody>
      </p:sp>
      <p:sp>
        <p:nvSpPr>
          <p:cNvPr id="11" name="Cara 3 lingkaran"/>
          <p:cNvSpPr/>
          <p:nvPr/>
        </p:nvSpPr>
        <p:spPr>
          <a:xfrm>
            <a:off x="548640" y="3794760"/>
            <a:ext cx="640080" cy="640080"/>
          </a:xfrm>
          <a:prstGeom prst="ellipse">
            <a:avLst/>
          </a:prstGeom>
          <a:solidFill>
            <a:schemeClr val="accent1"/>
          </a:solidFill>
          <a:ln/>
        </p:spPr>
      </p:sp>
      <p:sp>
        <p:nvSpPr>
          <p:cNvPr id="12" name="Cara 3 angka"/>
          <p:cNvSpPr txBox="1"/>
          <p:nvPr/>
        </p:nvSpPr>
        <p:spPr>
          <a:xfrm>
            <a:off x="548640" y="3794760"/>
            <a:ext cx="640080" cy="640080"/>
          </a:xfrm>
          <a:prstGeom prst="rect">
            <a:avLst/>
          </a:prstGeom>
          <a:noFill/>
          <a:ln/>
        </p:spPr>
        <p:txBody>
          <a:bodyPr wrap="square" lIns="0" tIns="0" rIns="0" bIns="0" rtlCol="0" anchor="ctr"/>
          <a:lstStyle/>
          <a:p>
            <a:pPr algn="ctr" indent="0" marL="0">
              <a:buNone/>
            </a:pPr>
            <a:r>
              <a:rPr lang="en-US" sz="2100" b="1" dirty="0">
                <a:solidFill>
                  <a:schemeClr val="tx1"/>
                </a:solidFill>
              </a:rPr>
              <a:t>3</a:t>
            </a:r>
            <a:endParaRPr lang="en-US" sz="2100" dirty="0"/>
          </a:p>
        </p:txBody>
      </p:sp>
      <p:sp>
        <p:nvSpPr>
          <p:cNvPr id="13" name="Judul cara 3"/>
          <p:cNvSpPr txBox="1"/>
          <p:nvPr/>
        </p:nvSpPr>
        <p:spPr>
          <a:xfrm>
            <a:off x="1417320" y="3794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Pilih baris starter</a:t>
            </a:r>
            <a:endParaRPr lang="en-US" sz="1800" dirty="0"/>
          </a:p>
        </p:txBody>
      </p:sp>
      <p:sp>
        <p:nvSpPr>
          <p:cNvPr id="14" name="Isi cara 3"/>
          <p:cNvSpPr txBox="1"/>
          <p:nvPr/>
        </p:nvSpPr>
        <p:spPr>
          <a:xfrm>
            <a:off x="1417320" y="4178808"/>
            <a:ext cx="4572000" cy="594360"/>
          </a:xfrm>
          <a:prstGeom prst="rect">
            <a:avLst/>
          </a:prstGeom>
          <a:noFill/>
          <a:ln/>
        </p:spPr>
        <p:txBody>
          <a:bodyPr wrap="square" lIns="0" tIns="0" rIns="0" bIns="0" rtlCol="0" anchor="t"/>
          <a:lstStyle/>
          <a:p>
            <a:pPr indent="0" marL="0">
              <a:buNone/>
            </a:pPr>
            <a:r>
              <a:rPr lang="en-US" sz="1400" dirty="0">
                <a:solidFill>
                  <a:schemeClr val="tx1"/>
                </a:solidFill>
              </a:rPr>
              <a:t>DOL atau star-delta, lalu kalikan I_FL dengan faktornya.</a:t>
            </a:r>
            <a:endParaRPr lang="en-US" sz="1400" dirty="0"/>
          </a:p>
        </p:txBody>
      </p:sp>
      <p:sp>
        <p:nvSpPr>
          <p:cNvPr id="15" name="Cara 4 lingkaran"/>
          <p:cNvSpPr/>
          <p:nvPr/>
        </p:nvSpPr>
        <p:spPr>
          <a:xfrm>
            <a:off x="548640" y="4937760"/>
            <a:ext cx="640080" cy="640080"/>
          </a:xfrm>
          <a:prstGeom prst="ellipse">
            <a:avLst/>
          </a:prstGeom>
          <a:solidFill>
            <a:schemeClr val="accent1"/>
          </a:solidFill>
          <a:ln/>
        </p:spPr>
      </p:sp>
      <p:sp>
        <p:nvSpPr>
          <p:cNvPr id="16" name="Cara 4 angka"/>
          <p:cNvSpPr txBox="1"/>
          <p:nvPr/>
        </p:nvSpPr>
        <p:spPr>
          <a:xfrm>
            <a:off x="548640" y="4937760"/>
            <a:ext cx="640080" cy="640080"/>
          </a:xfrm>
          <a:prstGeom prst="rect">
            <a:avLst/>
          </a:prstGeom>
          <a:noFill/>
          <a:ln/>
        </p:spPr>
        <p:txBody>
          <a:bodyPr wrap="square" lIns="0" tIns="0" rIns="0" bIns="0" rtlCol="0" anchor="ctr"/>
          <a:lstStyle/>
          <a:p>
            <a:pPr algn="ctr" indent="0" marL="0">
              <a:buNone/>
            </a:pPr>
            <a:r>
              <a:rPr lang="en-US" sz="2100" b="1" dirty="0">
                <a:solidFill>
                  <a:schemeClr val="tx1"/>
                </a:solidFill>
              </a:rPr>
              <a:t>4</a:t>
            </a:r>
            <a:endParaRPr lang="en-US" sz="2100" dirty="0"/>
          </a:p>
        </p:txBody>
      </p:sp>
      <p:sp>
        <p:nvSpPr>
          <p:cNvPr id="17" name="Judul cara 4"/>
          <p:cNvSpPr txBox="1"/>
          <p:nvPr/>
        </p:nvSpPr>
        <p:spPr>
          <a:xfrm>
            <a:off x="1417320" y="4937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Bulatkan dan verifikasi</a:t>
            </a:r>
            <a:endParaRPr lang="en-US" sz="1800" dirty="0"/>
          </a:p>
        </p:txBody>
      </p:sp>
      <p:sp>
        <p:nvSpPr>
          <p:cNvPr id="18" name="Isi cara 4"/>
          <p:cNvSpPr txBox="1"/>
          <p:nvPr/>
        </p:nvSpPr>
        <p:spPr>
          <a:xfrm>
            <a:off x="1417320" y="5321808"/>
            <a:ext cx="4572000" cy="594360"/>
          </a:xfrm>
          <a:prstGeom prst="rect">
            <a:avLst/>
          </a:prstGeom>
          <a:noFill/>
          <a:ln/>
        </p:spPr>
        <p:txBody>
          <a:bodyPr wrap="square" lIns="0" tIns="0" rIns="0" bIns="0" rtlCol="0" anchor="t"/>
          <a:lstStyle/>
          <a:p>
            <a:pPr indent="0" marL="0">
              <a:buNone/>
            </a:pPr>
            <a:r>
              <a:rPr lang="en-US" sz="1400" dirty="0">
                <a:solidFill>
                  <a:schemeClr val="tx1"/>
                </a:solidFill>
              </a:rPr>
              <a:t>Ambil rating standar berikutnya, cek katalog dan KHA.</a:t>
            </a:r>
            <a:endParaRPr lang="en-US" sz="1400" dirty="0"/>
          </a:p>
        </p:txBody>
      </p:sp>
      <p:sp>
        <p:nvSpPr>
          <p:cNvPr id="19" name="Kartu contoh cepat"/>
          <p:cNvSpPr/>
          <p:nvPr/>
        </p:nvSpPr>
        <p:spPr>
          <a:xfrm>
            <a:off x="6400800" y="1508760"/>
            <a:ext cx="5242255" cy="4572000"/>
          </a:xfrm>
          <a:prstGeom prst="roundRect">
            <a:avLst>
              <a:gd name="adj" fmla="val 2400"/>
            </a:avLst>
          </a:prstGeom>
          <a:solidFill>
            <a:schemeClr val="tx1"/>
          </a:solidFill>
          <a:ln/>
        </p:spPr>
      </p:sp>
      <p:sp>
        <p:nvSpPr>
          <p:cNvPr id="20" name="Judul contoh cepat"/>
          <p:cNvSpPr txBox="1"/>
          <p:nvPr/>
        </p:nvSpPr>
        <p:spPr>
          <a:xfrm>
            <a:off x="6720840" y="1737360"/>
            <a:ext cx="4663440" cy="457200"/>
          </a:xfrm>
          <a:prstGeom prst="rect">
            <a:avLst/>
          </a:prstGeom>
          <a:noFill/>
          <a:ln/>
        </p:spPr>
        <p:txBody>
          <a:bodyPr wrap="square" lIns="0" tIns="0" rIns="0" bIns="0" rtlCol="0" anchor="t"/>
          <a:lstStyle/>
          <a:p>
            <a:pPr indent="0" marL="0">
              <a:buNone/>
            </a:pPr>
            <a:r>
              <a:rPr lang="en-US" sz="1800" b="1" dirty="0">
                <a:solidFill>
                  <a:schemeClr val="accent1"/>
                </a:solidFill>
              </a:rPr>
              <a:t>Contoh cepat: 5,5 kW · 380 V · DOL</a:t>
            </a:r>
            <a:endParaRPr lang="en-US" sz="1800" dirty="0"/>
          </a:p>
        </p:txBody>
      </p:sp>
      <p:sp>
        <p:nvSpPr>
          <p:cNvPr id="21" name="Komponen contoh 1"/>
          <p:cNvSpPr txBox="1"/>
          <p:nvPr/>
        </p:nvSpPr>
        <p:spPr>
          <a:xfrm>
            <a:off x="6720840" y="2468880"/>
            <a:ext cx="1371600" cy="548640"/>
          </a:xfrm>
          <a:prstGeom prst="rect">
            <a:avLst/>
          </a:prstGeom>
          <a:noFill/>
          <a:ln/>
        </p:spPr>
        <p:txBody>
          <a:bodyPr wrap="square" lIns="0" tIns="0" rIns="0" bIns="0" rtlCol="0" anchor="ctr"/>
          <a:lstStyle/>
          <a:p>
            <a:pPr indent="0" marL="0">
              <a:buNone/>
            </a:pPr>
            <a:r>
              <a:rPr lang="en-US" sz="1400" b="1" dirty="0">
                <a:solidFill>
                  <a:schemeClr val="accent6"/>
                </a:solidFill>
              </a:rPr>
              <a:t>I_FL</a:t>
            </a:r>
            <a:endParaRPr lang="en-US" sz="1400" dirty="0"/>
          </a:p>
        </p:txBody>
      </p:sp>
      <p:sp>
        <p:nvSpPr>
          <p:cNvPr id="22" name="Hasil contoh 1"/>
          <p:cNvSpPr txBox="1"/>
          <p:nvPr/>
        </p:nvSpPr>
        <p:spPr>
          <a:xfrm>
            <a:off x="8183880" y="2468880"/>
            <a:ext cx="3291840" cy="548640"/>
          </a:xfrm>
          <a:prstGeom prst="rect">
            <a:avLst/>
          </a:prstGeom>
          <a:noFill/>
          <a:ln/>
        </p:spPr>
        <p:txBody>
          <a:bodyPr wrap="square" lIns="0" tIns="0" rIns="0" bIns="0" rtlCol="0" anchor="ctr"/>
          <a:lstStyle/>
          <a:p>
            <a:pPr indent="0" marL="0">
              <a:buNone/>
            </a:pPr>
            <a:r>
              <a:rPr lang="en-US" sz="1600" dirty="0">
                <a:solidFill>
                  <a:schemeClr val="bg1"/>
                </a:solidFill>
              </a:rPr>
              <a:t>≈ 11,3 A (5.500 / 486,7)</a:t>
            </a:r>
            <a:endParaRPr lang="en-US" sz="1600" dirty="0"/>
          </a:p>
        </p:txBody>
      </p:sp>
      <p:sp>
        <p:nvSpPr>
          <p:cNvPr id="23" name="Komponen contoh 2"/>
          <p:cNvSpPr txBox="1"/>
          <p:nvPr/>
        </p:nvSpPr>
        <p:spPr>
          <a:xfrm>
            <a:off x="6720840" y="3163824"/>
            <a:ext cx="1371600" cy="548640"/>
          </a:xfrm>
          <a:prstGeom prst="rect">
            <a:avLst/>
          </a:prstGeom>
          <a:noFill/>
          <a:ln/>
        </p:spPr>
        <p:txBody>
          <a:bodyPr wrap="square" lIns="0" tIns="0" rIns="0" bIns="0" rtlCol="0" anchor="ctr"/>
          <a:lstStyle/>
          <a:p>
            <a:pPr indent="0" marL="0">
              <a:buNone/>
            </a:pPr>
            <a:r>
              <a:rPr lang="en-US" sz="1400" b="1" dirty="0">
                <a:solidFill>
                  <a:schemeClr val="accent6"/>
                </a:solidFill>
              </a:rPr>
              <a:t>MCB</a:t>
            </a:r>
            <a:endParaRPr lang="en-US" sz="1400" dirty="0"/>
          </a:p>
        </p:txBody>
      </p:sp>
      <p:sp>
        <p:nvSpPr>
          <p:cNvPr id="24" name="Hasil contoh 2"/>
          <p:cNvSpPr txBox="1"/>
          <p:nvPr/>
        </p:nvSpPr>
        <p:spPr>
          <a:xfrm>
            <a:off x="8183880" y="3163824"/>
            <a:ext cx="3291840" cy="548640"/>
          </a:xfrm>
          <a:prstGeom prst="rect">
            <a:avLst/>
          </a:prstGeom>
          <a:noFill/>
          <a:ln/>
        </p:spPr>
        <p:txBody>
          <a:bodyPr wrap="square" lIns="0" tIns="0" rIns="0" bIns="0" rtlCol="0" anchor="ctr"/>
          <a:lstStyle/>
          <a:p>
            <a:pPr indent="0" marL="0">
              <a:buNone/>
            </a:pPr>
            <a:r>
              <a:rPr lang="en-US" sz="1600" dirty="0">
                <a:solidFill>
                  <a:schemeClr val="bg1"/>
                </a:solidFill>
              </a:rPr>
              <a:t>14,1 A → 16 A, kurva D</a:t>
            </a:r>
            <a:endParaRPr lang="en-US" sz="1600" dirty="0"/>
          </a:p>
        </p:txBody>
      </p:sp>
      <p:sp>
        <p:nvSpPr>
          <p:cNvPr id="25" name="Komponen contoh 3"/>
          <p:cNvSpPr txBox="1"/>
          <p:nvPr/>
        </p:nvSpPr>
        <p:spPr>
          <a:xfrm>
            <a:off x="6720840" y="3858768"/>
            <a:ext cx="1371600" cy="548640"/>
          </a:xfrm>
          <a:prstGeom prst="rect">
            <a:avLst/>
          </a:prstGeom>
          <a:noFill/>
          <a:ln/>
        </p:spPr>
        <p:txBody>
          <a:bodyPr wrap="square" lIns="0" tIns="0" rIns="0" bIns="0" rtlCol="0" anchor="ctr"/>
          <a:lstStyle/>
          <a:p>
            <a:pPr indent="0" marL="0">
              <a:buNone/>
            </a:pPr>
            <a:r>
              <a:rPr lang="en-US" sz="1400" b="1" dirty="0">
                <a:solidFill>
                  <a:schemeClr val="accent6"/>
                </a:solidFill>
              </a:rPr>
              <a:t>Kabel</a:t>
            </a:r>
            <a:endParaRPr lang="en-US" sz="1400" dirty="0"/>
          </a:p>
        </p:txBody>
      </p:sp>
      <p:sp>
        <p:nvSpPr>
          <p:cNvPr id="26" name="Hasil contoh 3"/>
          <p:cNvSpPr txBox="1"/>
          <p:nvPr/>
        </p:nvSpPr>
        <p:spPr>
          <a:xfrm>
            <a:off x="8183880" y="3858768"/>
            <a:ext cx="3291840" cy="548640"/>
          </a:xfrm>
          <a:prstGeom prst="rect">
            <a:avLst/>
          </a:prstGeom>
          <a:noFill/>
          <a:ln/>
        </p:spPr>
        <p:txBody>
          <a:bodyPr wrap="square" lIns="0" tIns="0" rIns="0" bIns="0" rtlCol="0" anchor="ctr"/>
          <a:lstStyle/>
          <a:p>
            <a:pPr indent="0" marL="0">
              <a:buNone/>
            </a:pPr>
            <a:r>
              <a:rPr lang="en-US" sz="1600" dirty="0">
                <a:solidFill>
                  <a:schemeClr val="bg1"/>
                </a:solidFill>
              </a:rPr>
              <a:t>≥ 14,1 A → 1,5 mm² (KHA ≈ 18 A)</a:t>
            </a:r>
            <a:endParaRPr lang="en-US" sz="1600" dirty="0"/>
          </a:p>
        </p:txBody>
      </p:sp>
      <p:sp>
        <p:nvSpPr>
          <p:cNvPr id="27" name="Komponen contoh 4"/>
          <p:cNvSpPr txBox="1"/>
          <p:nvPr/>
        </p:nvSpPr>
        <p:spPr>
          <a:xfrm>
            <a:off x="6720840" y="4553712"/>
            <a:ext cx="1371600" cy="548640"/>
          </a:xfrm>
          <a:prstGeom prst="rect">
            <a:avLst/>
          </a:prstGeom>
          <a:noFill/>
          <a:ln/>
        </p:spPr>
        <p:txBody>
          <a:bodyPr wrap="square" lIns="0" tIns="0" rIns="0" bIns="0" rtlCol="0" anchor="ctr"/>
          <a:lstStyle/>
          <a:p>
            <a:pPr indent="0" marL="0">
              <a:buNone/>
            </a:pPr>
            <a:r>
              <a:rPr lang="en-US" sz="1400" b="1" dirty="0">
                <a:solidFill>
                  <a:schemeClr val="accent6"/>
                </a:solidFill>
              </a:rPr>
              <a:t>Kontaktor</a:t>
            </a:r>
            <a:endParaRPr lang="en-US" sz="1400" dirty="0"/>
          </a:p>
        </p:txBody>
      </p:sp>
      <p:sp>
        <p:nvSpPr>
          <p:cNvPr id="28" name="Hasil contoh 4"/>
          <p:cNvSpPr txBox="1"/>
          <p:nvPr/>
        </p:nvSpPr>
        <p:spPr>
          <a:xfrm>
            <a:off x="8183880" y="4553712"/>
            <a:ext cx="3291840" cy="548640"/>
          </a:xfrm>
          <a:prstGeom prst="rect">
            <a:avLst/>
          </a:prstGeom>
          <a:noFill/>
          <a:ln/>
        </p:spPr>
        <p:txBody>
          <a:bodyPr wrap="square" lIns="0" tIns="0" rIns="0" bIns="0" rtlCol="0" anchor="ctr"/>
          <a:lstStyle/>
          <a:p>
            <a:pPr indent="0" marL="0">
              <a:buNone/>
            </a:pPr>
            <a:r>
              <a:rPr lang="en-US" sz="1600" dirty="0">
                <a:solidFill>
                  <a:schemeClr val="bg1"/>
                </a:solidFill>
              </a:rPr>
              <a:t>≥ 11,3 A → 12 A (AC-3)</a:t>
            </a:r>
            <a:endParaRPr lang="en-US" sz="1600" dirty="0"/>
          </a:p>
        </p:txBody>
      </p:sp>
      <p:sp>
        <p:nvSpPr>
          <p:cNvPr id="29" name="Komponen contoh 5"/>
          <p:cNvSpPr txBox="1"/>
          <p:nvPr/>
        </p:nvSpPr>
        <p:spPr>
          <a:xfrm>
            <a:off x="6720840" y="5248656"/>
            <a:ext cx="1371600" cy="548640"/>
          </a:xfrm>
          <a:prstGeom prst="rect">
            <a:avLst/>
          </a:prstGeom>
          <a:noFill/>
          <a:ln/>
        </p:spPr>
        <p:txBody>
          <a:bodyPr wrap="square" lIns="0" tIns="0" rIns="0" bIns="0" rtlCol="0" anchor="ctr"/>
          <a:lstStyle/>
          <a:p>
            <a:pPr indent="0" marL="0">
              <a:buNone/>
            </a:pPr>
            <a:r>
              <a:rPr lang="en-US" sz="1400" b="1" dirty="0">
                <a:solidFill>
                  <a:schemeClr val="accent6"/>
                </a:solidFill>
              </a:rPr>
              <a:t>OLR</a:t>
            </a:r>
            <a:endParaRPr lang="en-US" sz="1400" dirty="0"/>
          </a:p>
        </p:txBody>
      </p:sp>
      <p:sp>
        <p:nvSpPr>
          <p:cNvPr id="30" name="Hasil contoh 5"/>
          <p:cNvSpPr txBox="1"/>
          <p:nvPr/>
        </p:nvSpPr>
        <p:spPr>
          <a:xfrm>
            <a:off x="8183880" y="5248656"/>
            <a:ext cx="3291840" cy="548640"/>
          </a:xfrm>
          <a:prstGeom prst="rect">
            <a:avLst/>
          </a:prstGeom>
          <a:noFill/>
          <a:ln/>
        </p:spPr>
        <p:txBody>
          <a:bodyPr wrap="square" lIns="0" tIns="0" rIns="0" bIns="0" rtlCol="0" anchor="ctr"/>
          <a:lstStyle/>
          <a:p>
            <a:pPr indent="0" marL="0">
              <a:buNone/>
            </a:pPr>
            <a:r>
              <a:rPr lang="en-US" sz="1600" dirty="0">
                <a:solidFill>
                  <a:schemeClr val="bg1"/>
                </a:solidFill>
              </a:rPr>
              <a:t>9–13 A, setel 11,3 A</a:t>
            </a:r>
            <a:endParaRPr lang="en-US" sz="16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Tips Mendesain Sistem Kontrol Motor</a:t>
            </a:r>
            <a:endParaRPr lang="en-US" sz="3600" dirty="0"/>
          </a:p>
        </p:txBody>
      </p:sp>
      <p:sp>
        <p:nvSpPr>
          <p:cNvPr id="3" name="Kartu tip 1"/>
          <p:cNvSpPr/>
          <p:nvPr/>
        </p:nvSpPr>
        <p:spPr>
          <a:xfrm>
            <a:off x="548640" y="1508760"/>
            <a:ext cx="3515258" cy="2194560"/>
          </a:xfrm>
          <a:prstGeom prst="roundRect">
            <a:avLst>
              <a:gd name="adj" fmla="val 5000"/>
            </a:avLst>
          </a:prstGeom>
          <a:solidFill>
            <a:schemeClr val="bg2"/>
          </a:solidFill>
          <a:ln/>
        </p:spPr>
      </p:sp>
      <p:sp>
        <p:nvSpPr>
          <p:cNvPr id="4" name="Tip 1 lingkaran"/>
          <p:cNvSpPr/>
          <p:nvPr/>
        </p:nvSpPr>
        <p:spPr>
          <a:xfrm>
            <a:off x="822960" y="1783080"/>
            <a:ext cx="548640" cy="548640"/>
          </a:xfrm>
          <a:prstGeom prst="ellipse">
            <a:avLst/>
          </a:prstGeom>
          <a:solidFill>
            <a:schemeClr val="accent2"/>
          </a:solidFill>
          <a:ln/>
        </p:spPr>
      </p:sp>
      <p:pic>
        <p:nvPicPr>
          <p:cNvPr id="5" name="Tip 1 ikon" descr="Ikon Tip 1">    </p:cNvPr>
          <p:cNvPicPr>
            <a:picLocks noChangeAspect="1"/>
          </p:cNvPicPr>
          <p:nvPr/>
        </p:nvPicPr>
        <p:blipFill>
          <a:blip r:embed="rId1"/>
          <a:stretch>
            <a:fillRect/>
          </a:stretch>
        </p:blipFill>
        <p:spPr>
          <a:xfrm>
            <a:off x="971093" y="1931213"/>
            <a:ext cx="252374" cy="252374"/>
          </a:xfrm>
          <a:prstGeom prst="rect">
            <a:avLst/>
          </a:prstGeom>
        </p:spPr>
      </p:pic>
      <p:sp>
        <p:nvSpPr>
          <p:cNvPr id="6" name="Judul tip 1"/>
          <p:cNvSpPr txBox="1"/>
          <p:nvPr/>
        </p:nvSpPr>
        <p:spPr>
          <a:xfrm>
            <a:off x="1554480" y="1783080"/>
            <a:ext cx="2235098" cy="548640"/>
          </a:xfrm>
          <a:prstGeom prst="rect">
            <a:avLst/>
          </a:prstGeom>
          <a:noFill/>
          <a:ln/>
        </p:spPr>
        <p:txBody>
          <a:bodyPr wrap="square" lIns="0" tIns="0" rIns="0" bIns="0" rtlCol="0" anchor="ctr"/>
          <a:lstStyle/>
          <a:p>
            <a:pPr indent="0" marL="0">
              <a:buNone/>
            </a:pPr>
            <a:r>
              <a:rPr lang="en-US" sz="1800" b="1" dirty="0">
                <a:solidFill>
                  <a:schemeClr val="tx1"/>
                </a:solidFill>
              </a:rPr>
              <a:t>Mulai dari nameplate</a:t>
            </a:r>
            <a:endParaRPr lang="en-US" sz="1800" dirty="0"/>
          </a:p>
        </p:txBody>
      </p:sp>
      <p:sp>
        <p:nvSpPr>
          <p:cNvPr id="7" name="Isi tip 1"/>
          <p:cNvSpPr txBox="1"/>
          <p:nvPr/>
        </p:nvSpPr>
        <p:spPr>
          <a:xfrm>
            <a:off x="822960" y="2514600"/>
            <a:ext cx="2966618" cy="1005840"/>
          </a:xfrm>
          <a:prstGeom prst="rect">
            <a:avLst/>
          </a:prstGeom>
          <a:noFill/>
          <a:ln/>
        </p:spPr>
        <p:txBody>
          <a:bodyPr wrap="square" lIns="0" tIns="0" rIns="0" bIns="0" rtlCol="0" anchor="t"/>
          <a:lstStyle/>
          <a:p>
            <a:pPr indent="0" marL="0">
              <a:buNone/>
            </a:pPr>
            <a:r>
              <a:rPr lang="en-US" sz="1400" dirty="0">
                <a:solidFill>
                  <a:schemeClr val="tx1"/>
                </a:solidFill>
              </a:rPr>
              <a:t>Gunakan arus nominal pada nameplate, bukan asumsi, terutama untuk setelan OLR.</a:t>
            </a:r>
            <a:endParaRPr lang="en-US" sz="1400" dirty="0"/>
          </a:p>
        </p:txBody>
      </p:sp>
      <p:sp>
        <p:nvSpPr>
          <p:cNvPr id="8" name="Kartu tip 2"/>
          <p:cNvSpPr/>
          <p:nvPr/>
        </p:nvSpPr>
        <p:spPr>
          <a:xfrm>
            <a:off x="4338218" y="1508760"/>
            <a:ext cx="3515258" cy="2194560"/>
          </a:xfrm>
          <a:prstGeom prst="roundRect">
            <a:avLst>
              <a:gd name="adj" fmla="val 5000"/>
            </a:avLst>
          </a:prstGeom>
          <a:solidFill>
            <a:schemeClr val="bg2"/>
          </a:solidFill>
          <a:ln/>
        </p:spPr>
      </p:sp>
      <p:sp>
        <p:nvSpPr>
          <p:cNvPr id="9" name="Tip 2 lingkaran"/>
          <p:cNvSpPr/>
          <p:nvPr/>
        </p:nvSpPr>
        <p:spPr>
          <a:xfrm>
            <a:off x="4612538" y="1783080"/>
            <a:ext cx="548640" cy="548640"/>
          </a:xfrm>
          <a:prstGeom prst="ellipse">
            <a:avLst/>
          </a:prstGeom>
          <a:solidFill>
            <a:schemeClr val="accent2"/>
          </a:solidFill>
          <a:ln/>
        </p:spPr>
      </p:sp>
      <p:pic>
        <p:nvPicPr>
          <p:cNvPr id="10" name="Tip 2 ikon" descr="Ikon Tip 2">    </p:cNvPr>
          <p:cNvPicPr>
            <a:picLocks noChangeAspect="1"/>
          </p:cNvPicPr>
          <p:nvPr/>
        </p:nvPicPr>
        <p:blipFill>
          <a:blip r:embed="rId2"/>
          <a:stretch>
            <a:fillRect/>
          </a:stretch>
        </p:blipFill>
        <p:spPr>
          <a:xfrm>
            <a:off x="4760671" y="1931213"/>
            <a:ext cx="252374" cy="252374"/>
          </a:xfrm>
          <a:prstGeom prst="rect">
            <a:avLst/>
          </a:prstGeom>
        </p:spPr>
      </p:pic>
      <p:sp>
        <p:nvSpPr>
          <p:cNvPr id="11" name="Judul tip 2"/>
          <p:cNvSpPr txBox="1"/>
          <p:nvPr/>
        </p:nvSpPr>
        <p:spPr>
          <a:xfrm>
            <a:off x="5344058" y="1783080"/>
            <a:ext cx="2235098" cy="548640"/>
          </a:xfrm>
          <a:prstGeom prst="rect">
            <a:avLst/>
          </a:prstGeom>
          <a:noFill/>
          <a:ln/>
        </p:spPr>
        <p:txBody>
          <a:bodyPr wrap="square" lIns="0" tIns="0" rIns="0" bIns="0" rtlCol="0" anchor="ctr"/>
          <a:lstStyle/>
          <a:p>
            <a:pPr indent="0" marL="0">
              <a:buNone/>
            </a:pPr>
            <a:r>
              <a:rPr lang="en-US" sz="1800" b="1" dirty="0">
                <a:solidFill>
                  <a:schemeClr val="tx1"/>
                </a:solidFill>
              </a:rPr>
              <a:t>Koordinasi proteksi</a:t>
            </a:r>
            <a:endParaRPr lang="en-US" sz="1800" dirty="0"/>
          </a:p>
        </p:txBody>
      </p:sp>
      <p:sp>
        <p:nvSpPr>
          <p:cNvPr id="12" name="Isi tip 2"/>
          <p:cNvSpPr txBox="1"/>
          <p:nvPr/>
        </p:nvSpPr>
        <p:spPr>
          <a:xfrm>
            <a:off x="4612538" y="2514600"/>
            <a:ext cx="2966618" cy="1005840"/>
          </a:xfrm>
          <a:prstGeom prst="rect">
            <a:avLst/>
          </a:prstGeom>
          <a:noFill/>
          <a:ln/>
        </p:spPr>
        <p:txBody>
          <a:bodyPr wrap="square" lIns="0" tIns="0" rIns="0" bIns="0" rtlCol="0" anchor="t"/>
          <a:lstStyle/>
          <a:p>
            <a:pPr indent="0" marL="0">
              <a:buNone/>
            </a:pPr>
            <a:r>
              <a:rPr lang="en-US" sz="1400" dirty="0">
                <a:solidFill>
                  <a:schemeClr val="tx1"/>
                </a:solidFill>
              </a:rPr>
              <a:t>Urutan aman: KHA kabel ≥ rating MCB ≥ setelan OLR ≥ I_FL.</a:t>
            </a:r>
            <a:endParaRPr lang="en-US" sz="1400" dirty="0"/>
          </a:p>
        </p:txBody>
      </p:sp>
      <p:sp>
        <p:nvSpPr>
          <p:cNvPr id="13" name="Kartu tip 3"/>
          <p:cNvSpPr/>
          <p:nvPr/>
        </p:nvSpPr>
        <p:spPr>
          <a:xfrm>
            <a:off x="8127797" y="1508760"/>
            <a:ext cx="3515258" cy="2194560"/>
          </a:xfrm>
          <a:prstGeom prst="roundRect">
            <a:avLst>
              <a:gd name="adj" fmla="val 5000"/>
            </a:avLst>
          </a:prstGeom>
          <a:solidFill>
            <a:schemeClr val="bg2"/>
          </a:solidFill>
          <a:ln/>
        </p:spPr>
      </p:sp>
      <p:sp>
        <p:nvSpPr>
          <p:cNvPr id="14" name="Tip 3 lingkaran"/>
          <p:cNvSpPr/>
          <p:nvPr/>
        </p:nvSpPr>
        <p:spPr>
          <a:xfrm>
            <a:off x="8402117" y="1783080"/>
            <a:ext cx="548640" cy="548640"/>
          </a:xfrm>
          <a:prstGeom prst="ellipse">
            <a:avLst/>
          </a:prstGeom>
          <a:solidFill>
            <a:schemeClr val="accent2"/>
          </a:solidFill>
          <a:ln/>
        </p:spPr>
      </p:sp>
      <p:pic>
        <p:nvPicPr>
          <p:cNvPr id="15" name="Tip 3 ikon" descr="Ikon Tip 3">    </p:cNvPr>
          <p:cNvPicPr>
            <a:picLocks noChangeAspect="1"/>
          </p:cNvPicPr>
          <p:nvPr/>
        </p:nvPicPr>
        <p:blipFill>
          <a:blip r:embed="rId3"/>
          <a:stretch>
            <a:fillRect/>
          </a:stretch>
        </p:blipFill>
        <p:spPr>
          <a:xfrm>
            <a:off x="8550250" y="1931213"/>
            <a:ext cx="252374" cy="252374"/>
          </a:xfrm>
          <a:prstGeom prst="rect">
            <a:avLst/>
          </a:prstGeom>
        </p:spPr>
      </p:pic>
      <p:sp>
        <p:nvSpPr>
          <p:cNvPr id="16" name="Judul tip 3"/>
          <p:cNvSpPr txBox="1"/>
          <p:nvPr/>
        </p:nvSpPr>
        <p:spPr>
          <a:xfrm>
            <a:off x="9133637" y="1783080"/>
            <a:ext cx="2235098" cy="548640"/>
          </a:xfrm>
          <a:prstGeom prst="rect">
            <a:avLst/>
          </a:prstGeom>
          <a:noFill/>
          <a:ln/>
        </p:spPr>
        <p:txBody>
          <a:bodyPr wrap="square" lIns="0" tIns="0" rIns="0" bIns="0" rtlCol="0" anchor="ctr"/>
          <a:lstStyle/>
          <a:p>
            <a:pPr indent="0" marL="0">
              <a:buNone/>
            </a:pPr>
            <a:r>
              <a:rPr lang="en-US" sz="1800" b="1" dirty="0">
                <a:solidFill>
                  <a:schemeClr val="tx1"/>
                </a:solidFill>
              </a:rPr>
              <a:t>Faktor koreksi kabel</a:t>
            </a:r>
            <a:endParaRPr lang="en-US" sz="1800" dirty="0"/>
          </a:p>
        </p:txBody>
      </p:sp>
      <p:sp>
        <p:nvSpPr>
          <p:cNvPr id="17" name="Isi tip 3"/>
          <p:cNvSpPr txBox="1"/>
          <p:nvPr/>
        </p:nvSpPr>
        <p:spPr>
          <a:xfrm>
            <a:off x="8402117" y="2514600"/>
            <a:ext cx="2966618" cy="1005840"/>
          </a:xfrm>
          <a:prstGeom prst="rect">
            <a:avLst/>
          </a:prstGeom>
          <a:noFill/>
          <a:ln/>
        </p:spPr>
        <p:txBody>
          <a:bodyPr wrap="square" lIns="0" tIns="0" rIns="0" bIns="0" rtlCol="0" anchor="t"/>
          <a:lstStyle/>
          <a:p>
            <a:pPr indent="0" marL="0">
              <a:buNone/>
            </a:pPr>
            <a:r>
              <a:rPr lang="en-US" sz="1400" dirty="0">
                <a:solidFill>
                  <a:schemeClr val="tx1"/>
                </a:solidFill>
              </a:rPr>
              <a:t>Perhitungkan suhu sekitar dan jumlah kabel dalam satu tray atau pipa.</a:t>
            </a:r>
            <a:endParaRPr lang="en-US" sz="1400" dirty="0"/>
          </a:p>
        </p:txBody>
      </p:sp>
      <p:sp>
        <p:nvSpPr>
          <p:cNvPr id="18" name="Kartu tip 4"/>
          <p:cNvSpPr/>
          <p:nvPr/>
        </p:nvSpPr>
        <p:spPr>
          <a:xfrm>
            <a:off x="548640" y="3977640"/>
            <a:ext cx="3515258" cy="2194560"/>
          </a:xfrm>
          <a:prstGeom prst="roundRect">
            <a:avLst>
              <a:gd name="adj" fmla="val 5000"/>
            </a:avLst>
          </a:prstGeom>
          <a:solidFill>
            <a:schemeClr val="bg2"/>
          </a:solidFill>
          <a:ln/>
        </p:spPr>
      </p:sp>
      <p:sp>
        <p:nvSpPr>
          <p:cNvPr id="19" name="Tip 4 lingkaran"/>
          <p:cNvSpPr/>
          <p:nvPr/>
        </p:nvSpPr>
        <p:spPr>
          <a:xfrm>
            <a:off x="822960" y="4251960"/>
            <a:ext cx="548640" cy="548640"/>
          </a:xfrm>
          <a:prstGeom prst="ellipse">
            <a:avLst/>
          </a:prstGeom>
          <a:solidFill>
            <a:schemeClr val="accent2"/>
          </a:solidFill>
          <a:ln/>
        </p:spPr>
      </p:sp>
      <p:pic>
        <p:nvPicPr>
          <p:cNvPr id="20" name="Tip 4 ikon" descr="Ikon Tip 4">    </p:cNvPr>
          <p:cNvPicPr>
            <a:picLocks noChangeAspect="1"/>
          </p:cNvPicPr>
          <p:nvPr/>
        </p:nvPicPr>
        <p:blipFill>
          <a:blip r:embed="rId4"/>
          <a:stretch>
            <a:fillRect/>
          </a:stretch>
        </p:blipFill>
        <p:spPr>
          <a:xfrm>
            <a:off x="971093" y="4400093"/>
            <a:ext cx="252374" cy="252374"/>
          </a:xfrm>
          <a:prstGeom prst="rect">
            <a:avLst/>
          </a:prstGeom>
        </p:spPr>
      </p:pic>
      <p:sp>
        <p:nvSpPr>
          <p:cNvPr id="21" name="Judul tip 4"/>
          <p:cNvSpPr txBox="1"/>
          <p:nvPr/>
        </p:nvSpPr>
        <p:spPr>
          <a:xfrm>
            <a:off x="1554480" y="4251960"/>
            <a:ext cx="2235098" cy="548640"/>
          </a:xfrm>
          <a:prstGeom prst="rect">
            <a:avLst/>
          </a:prstGeom>
          <a:noFill/>
          <a:ln/>
        </p:spPr>
        <p:txBody>
          <a:bodyPr wrap="square" lIns="0" tIns="0" rIns="0" bIns="0" rtlCol="0" anchor="ctr"/>
          <a:lstStyle/>
          <a:p>
            <a:pPr indent="0" marL="0">
              <a:buNone/>
            </a:pPr>
            <a:r>
              <a:rPr lang="en-US" sz="1800" b="1" dirty="0">
                <a:solidFill>
                  <a:schemeClr val="tx1"/>
                </a:solidFill>
              </a:rPr>
              <a:t>Cek drop tegangan</a:t>
            </a:r>
            <a:endParaRPr lang="en-US" sz="1800" dirty="0"/>
          </a:p>
        </p:txBody>
      </p:sp>
      <p:sp>
        <p:nvSpPr>
          <p:cNvPr id="22" name="Isi tip 4"/>
          <p:cNvSpPr txBox="1"/>
          <p:nvPr/>
        </p:nvSpPr>
        <p:spPr>
          <a:xfrm>
            <a:off x="822960" y="4983480"/>
            <a:ext cx="2966618" cy="1005840"/>
          </a:xfrm>
          <a:prstGeom prst="rect">
            <a:avLst/>
          </a:prstGeom>
          <a:noFill/>
          <a:ln/>
        </p:spPr>
        <p:txBody>
          <a:bodyPr wrap="square" lIns="0" tIns="0" rIns="0" bIns="0" rtlCol="0" anchor="t"/>
          <a:lstStyle/>
          <a:p>
            <a:pPr indent="0" marL="0">
              <a:buNone/>
            </a:pPr>
            <a:r>
              <a:rPr lang="en-US" sz="1400" dirty="0">
                <a:solidFill>
                  <a:schemeClr val="tx1"/>
                </a:solidFill>
              </a:rPr>
              <a:t>Jaga drop tegangan ≤ 5 %, terutama pada kabel panjang dan saat motor start.</a:t>
            </a:r>
            <a:endParaRPr lang="en-US" sz="1400" dirty="0"/>
          </a:p>
        </p:txBody>
      </p:sp>
      <p:sp>
        <p:nvSpPr>
          <p:cNvPr id="23" name="Kartu tip 5"/>
          <p:cNvSpPr/>
          <p:nvPr/>
        </p:nvSpPr>
        <p:spPr>
          <a:xfrm>
            <a:off x="4338218" y="3977640"/>
            <a:ext cx="3515258" cy="2194560"/>
          </a:xfrm>
          <a:prstGeom prst="roundRect">
            <a:avLst>
              <a:gd name="adj" fmla="val 5000"/>
            </a:avLst>
          </a:prstGeom>
          <a:solidFill>
            <a:schemeClr val="bg2"/>
          </a:solidFill>
          <a:ln/>
        </p:spPr>
      </p:sp>
      <p:sp>
        <p:nvSpPr>
          <p:cNvPr id="24" name="Tip 5 lingkaran"/>
          <p:cNvSpPr/>
          <p:nvPr/>
        </p:nvSpPr>
        <p:spPr>
          <a:xfrm>
            <a:off x="4612538" y="4251960"/>
            <a:ext cx="548640" cy="548640"/>
          </a:xfrm>
          <a:prstGeom prst="ellipse">
            <a:avLst/>
          </a:prstGeom>
          <a:solidFill>
            <a:schemeClr val="accent2"/>
          </a:solidFill>
          <a:ln/>
        </p:spPr>
      </p:sp>
      <p:pic>
        <p:nvPicPr>
          <p:cNvPr id="25" name="Tip 5 ikon" descr="Ikon Tip 5">    </p:cNvPr>
          <p:cNvPicPr>
            <a:picLocks noChangeAspect="1"/>
          </p:cNvPicPr>
          <p:nvPr/>
        </p:nvPicPr>
        <p:blipFill>
          <a:blip r:embed="rId5"/>
          <a:stretch>
            <a:fillRect/>
          </a:stretch>
        </p:blipFill>
        <p:spPr>
          <a:xfrm>
            <a:off x="4760671" y="4400093"/>
            <a:ext cx="252374" cy="252374"/>
          </a:xfrm>
          <a:prstGeom prst="rect">
            <a:avLst/>
          </a:prstGeom>
        </p:spPr>
      </p:pic>
      <p:sp>
        <p:nvSpPr>
          <p:cNvPr id="26" name="Judul tip 5"/>
          <p:cNvSpPr txBox="1"/>
          <p:nvPr/>
        </p:nvSpPr>
        <p:spPr>
          <a:xfrm>
            <a:off x="5344058" y="4251960"/>
            <a:ext cx="2235098" cy="548640"/>
          </a:xfrm>
          <a:prstGeom prst="rect">
            <a:avLst/>
          </a:prstGeom>
          <a:noFill/>
          <a:ln/>
        </p:spPr>
        <p:txBody>
          <a:bodyPr wrap="square" lIns="0" tIns="0" rIns="0" bIns="0" rtlCol="0" anchor="ctr"/>
          <a:lstStyle/>
          <a:p>
            <a:pPr indent="0" marL="0">
              <a:buNone/>
            </a:pPr>
            <a:r>
              <a:rPr lang="en-US" sz="1800" b="1" dirty="0">
                <a:solidFill>
                  <a:schemeClr val="tx1"/>
                </a:solidFill>
              </a:rPr>
              <a:t>Perhatikan siklus start</a:t>
            </a:r>
            <a:endParaRPr lang="en-US" sz="1800" dirty="0"/>
          </a:p>
        </p:txBody>
      </p:sp>
      <p:sp>
        <p:nvSpPr>
          <p:cNvPr id="27" name="Isi tip 5"/>
          <p:cNvSpPr txBox="1"/>
          <p:nvPr/>
        </p:nvSpPr>
        <p:spPr>
          <a:xfrm>
            <a:off x="4612538" y="4983480"/>
            <a:ext cx="2966618" cy="1005840"/>
          </a:xfrm>
          <a:prstGeom prst="rect">
            <a:avLst/>
          </a:prstGeom>
          <a:noFill/>
          <a:ln/>
        </p:spPr>
        <p:txBody>
          <a:bodyPr wrap="square" lIns="0" tIns="0" rIns="0" bIns="0" rtlCol="0" anchor="t"/>
          <a:lstStyle/>
          <a:p>
            <a:pPr indent="0" marL="0">
              <a:buNone/>
            </a:pPr>
            <a:r>
              <a:rPr lang="en-US" sz="1400" dirty="0">
                <a:solidFill>
                  <a:schemeClr val="tx1"/>
                </a:solidFill>
              </a:rPr>
              <a:t>Motor yang sering start-stop butuh kontaktor dan OLR dengan margin lebih besar.</a:t>
            </a:r>
            <a:endParaRPr lang="en-US" sz="1400" dirty="0"/>
          </a:p>
        </p:txBody>
      </p:sp>
      <p:sp>
        <p:nvSpPr>
          <p:cNvPr id="28" name="Kartu tip 6"/>
          <p:cNvSpPr/>
          <p:nvPr/>
        </p:nvSpPr>
        <p:spPr>
          <a:xfrm>
            <a:off x="8127797" y="3977640"/>
            <a:ext cx="3515258" cy="2194560"/>
          </a:xfrm>
          <a:prstGeom prst="roundRect">
            <a:avLst>
              <a:gd name="adj" fmla="val 5000"/>
            </a:avLst>
          </a:prstGeom>
          <a:solidFill>
            <a:schemeClr val="bg2"/>
          </a:solidFill>
          <a:ln/>
        </p:spPr>
      </p:sp>
      <p:sp>
        <p:nvSpPr>
          <p:cNvPr id="29" name="Tip 6 lingkaran"/>
          <p:cNvSpPr/>
          <p:nvPr/>
        </p:nvSpPr>
        <p:spPr>
          <a:xfrm>
            <a:off x="8402117" y="4251960"/>
            <a:ext cx="548640" cy="548640"/>
          </a:xfrm>
          <a:prstGeom prst="ellipse">
            <a:avLst/>
          </a:prstGeom>
          <a:solidFill>
            <a:schemeClr val="accent2"/>
          </a:solidFill>
          <a:ln/>
        </p:spPr>
      </p:sp>
      <p:pic>
        <p:nvPicPr>
          <p:cNvPr id="30" name="Tip 6 ikon" descr="Ikon Tip 6">    </p:cNvPr>
          <p:cNvPicPr>
            <a:picLocks noChangeAspect="1"/>
          </p:cNvPicPr>
          <p:nvPr/>
        </p:nvPicPr>
        <p:blipFill>
          <a:blip r:embed="rId6"/>
          <a:stretch>
            <a:fillRect/>
          </a:stretch>
        </p:blipFill>
        <p:spPr>
          <a:xfrm>
            <a:off x="8550250" y="4400093"/>
            <a:ext cx="252374" cy="252374"/>
          </a:xfrm>
          <a:prstGeom prst="rect">
            <a:avLst/>
          </a:prstGeom>
        </p:spPr>
      </p:pic>
      <p:sp>
        <p:nvSpPr>
          <p:cNvPr id="31" name="Judul tip 6"/>
          <p:cNvSpPr txBox="1"/>
          <p:nvPr/>
        </p:nvSpPr>
        <p:spPr>
          <a:xfrm>
            <a:off x="9133637" y="4251960"/>
            <a:ext cx="2235098" cy="548640"/>
          </a:xfrm>
          <a:prstGeom prst="rect">
            <a:avLst/>
          </a:prstGeom>
          <a:noFill/>
          <a:ln/>
        </p:spPr>
        <p:txBody>
          <a:bodyPr wrap="square" lIns="0" tIns="0" rIns="0" bIns="0" rtlCol="0" anchor="ctr"/>
          <a:lstStyle/>
          <a:p>
            <a:pPr indent="0" marL="0">
              <a:buNone/>
            </a:pPr>
            <a:r>
              <a:rPr lang="en-US" sz="1800" b="1" dirty="0">
                <a:solidFill>
                  <a:schemeClr val="tx1"/>
                </a:solidFill>
              </a:rPr>
              <a:t>Ikuti standar</a:t>
            </a:r>
            <a:endParaRPr lang="en-US" sz="1800" dirty="0"/>
          </a:p>
        </p:txBody>
      </p:sp>
      <p:sp>
        <p:nvSpPr>
          <p:cNvPr id="32" name="Isi tip 6"/>
          <p:cNvSpPr txBox="1"/>
          <p:nvPr/>
        </p:nvSpPr>
        <p:spPr>
          <a:xfrm>
            <a:off x="8402117" y="4983480"/>
            <a:ext cx="2966618" cy="1005840"/>
          </a:xfrm>
          <a:prstGeom prst="rect">
            <a:avLst/>
          </a:prstGeom>
          <a:noFill/>
          <a:ln/>
        </p:spPr>
        <p:txBody>
          <a:bodyPr wrap="square" lIns="0" tIns="0" rIns="0" bIns="0" rtlCol="0" anchor="t"/>
          <a:lstStyle/>
          <a:p>
            <a:pPr indent="0" marL="0">
              <a:buNone/>
            </a:pPr>
            <a:r>
              <a:rPr lang="en-US" sz="1400" dirty="0">
                <a:solidFill>
                  <a:schemeClr val="tx1"/>
                </a:solidFill>
              </a:rPr>
              <a:t>Rujuk PUIL 2011, IEC 60947, dan katalog produsen untuk rating final.</a:t>
            </a:r>
            <a:endParaRPr lang="en-US" sz="1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Kesimpulan</a:t>
            </a:r>
            <a:endParaRPr lang="en-US" sz="3600" dirty="0"/>
          </a:p>
        </p:txBody>
      </p:sp>
      <p:sp>
        <p:nvSpPr>
          <p:cNvPr id="3" name="Kartu kesimpulan 1"/>
          <p:cNvSpPr/>
          <p:nvPr/>
        </p:nvSpPr>
        <p:spPr>
          <a:xfrm>
            <a:off x="548640" y="1463040"/>
            <a:ext cx="5410048" cy="1828800"/>
          </a:xfrm>
          <a:prstGeom prst="roundRect">
            <a:avLst>
              <a:gd name="adj" fmla="val 6000"/>
            </a:avLst>
          </a:prstGeom>
          <a:solidFill>
            <a:schemeClr val="tx2"/>
          </a:solidFill>
          <a:ln/>
        </p:spPr>
      </p:sp>
      <p:sp>
        <p:nvSpPr>
          <p:cNvPr id="4" name="Kesimpulan 1 lingkaran"/>
          <p:cNvSpPr/>
          <p:nvPr/>
        </p:nvSpPr>
        <p:spPr>
          <a:xfrm>
            <a:off x="822960" y="1737360"/>
            <a:ext cx="548640" cy="548640"/>
          </a:xfrm>
          <a:prstGeom prst="ellipse">
            <a:avLst/>
          </a:prstGeom>
          <a:solidFill>
            <a:schemeClr val="accent1"/>
          </a:solidFill>
          <a:ln/>
        </p:spPr>
      </p:sp>
      <p:sp>
        <p:nvSpPr>
          <p:cNvPr id="5" name="Kesimpulan 1 angka"/>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Judul kesimpulan 1"/>
          <p:cNvSpPr txBox="1"/>
          <p:nvPr/>
        </p:nvSpPr>
        <p:spPr>
          <a:xfrm>
            <a:off x="1554480" y="1737360"/>
            <a:ext cx="4129888" cy="548640"/>
          </a:xfrm>
          <a:prstGeom prst="rect">
            <a:avLst/>
          </a:prstGeom>
          <a:noFill/>
          <a:ln/>
        </p:spPr>
        <p:txBody>
          <a:bodyPr wrap="square" lIns="0" tIns="0" rIns="0" bIns="0" rtlCol="0" anchor="ctr"/>
          <a:lstStyle/>
          <a:p>
            <a:pPr indent="0" marL="0">
              <a:buNone/>
            </a:pPr>
            <a:r>
              <a:rPr lang="en-US" sz="2000" b="1" dirty="0">
                <a:solidFill>
                  <a:schemeClr val="bg1"/>
                </a:solidFill>
              </a:rPr>
              <a:t>I_FL adalah fondasi</a:t>
            </a:r>
            <a:endParaRPr lang="en-US" sz="2000" dirty="0"/>
          </a:p>
        </p:txBody>
      </p:sp>
      <p:sp>
        <p:nvSpPr>
          <p:cNvPr id="7" name="Isi kesimpulan 1"/>
          <p:cNvSpPr txBox="1"/>
          <p:nvPr/>
        </p:nvSpPr>
        <p:spPr>
          <a:xfrm>
            <a:off x="822960" y="2468880"/>
            <a:ext cx="4861408" cy="685800"/>
          </a:xfrm>
          <a:prstGeom prst="rect">
            <a:avLst/>
          </a:prstGeom>
          <a:noFill/>
          <a:ln/>
        </p:spPr>
        <p:txBody>
          <a:bodyPr wrap="square" lIns="0" tIns="0" rIns="0" bIns="0" rtlCol="0" anchor="t"/>
          <a:lstStyle/>
          <a:p>
            <a:pPr indent="0" marL="0">
              <a:buNone/>
            </a:pPr>
            <a:r>
              <a:rPr lang="en-US" sz="1600" dirty="0">
                <a:solidFill>
                  <a:schemeClr val="bg1"/>
                </a:solidFill>
              </a:rPr>
              <a:t>Semua sizing berawal dari I_FL = P / (√3 · V · cos φ · η).</a:t>
            </a:r>
            <a:endParaRPr lang="en-US" sz="1600" dirty="0"/>
          </a:p>
        </p:txBody>
      </p:sp>
      <p:sp>
        <p:nvSpPr>
          <p:cNvPr id="8" name="Kartu kesimpulan 2"/>
          <p:cNvSpPr/>
          <p:nvPr/>
        </p:nvSpPr>
        <p:spPr>
          <a:xfrm>
            <a:off x="6233008" y="1463040"/>
            <a:ext cx="5410048" cy="1828800"/>
          </a:xfrm>
          <a:prstGeom prst="roundRect">
            <a:avLst>
              <a:gd name="adj" fmla="val 6000"/>
            </a:avLst>
          </a:prstGeom>
          <a:solidFill>
            <a:schemeClr val="tx2"/>
          </a:solidFill>
          <a:ln/>
        </p:spPr>
      </p:sp>
      <p:sp>
        <p:nvSpPr>
          <p:cNvPr id="9" name="Kesimpulan 2 lingkaran"/>
          <p:cNvSpPr/>
          <p:nvPr/>
        </p:nvSpPr>
        <p:spPr>
          <a:xfrm>
            <a:off x="6507328" y="1737360"/>
            <a:ext cx="548640" cy="548640"/>
          </a:xfrm>
          <a:prstGeom prst="ellipse">
            <a:avLst/>
          </a:prstGeom>
          <a:solidFill>
            <a:schemeClr val="accent1"/>
          </a:solidFill>
          <a:ln/>
        </p:spPr>
      </p:sp>
      <p:sp>
        <p:nvSpPr>
          <p:cNvPr id="10" name="Kesimpulan 2 angka"/>
          <p:cNvSpPr txBox="1"/>
          <p:nvPr/>
        </p:nvSpPr>
        <p:spPr>
          <a:xfrm>
            <a:off x="6507328" y="1737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Judul kesimpulan 2"/>
          <p:cNvSpPr txBox="1"/>
          <p:nvPr/>
        </p:nvSpPr>
        <p:spPr>
          <a:xfrm>
            <a:off x="7238848" y="1737360"/>
            <a:ext cx="4129888" cy="548640"/>
          </a:xfrm>
          <a:prstGeom prst="rect">
            <a:avLst/>
          </a:prstGeom>
          <a:noFill/>
          <a:ln/>
        </p:spPr>
        <p:txBody>
          <a:bodyPr wrap="square" lIns="0" tIns="0" rIns="0" bIns="0" rtlCol="0" anchor="ctr"/>
          <a:lstStyle/>
          <a:p>
            <a:pPr indent="0" marL="0">
              <a:buNone/>
            </a:pPr>
            <a:r>
              <a:rPr lang="en-US" sz="2000" b="1" dirty="0">
                <a:solidFill>
                  <a:schemeClr val="bg1"/>
                </a:solidFill>
              </a:rPr>
              <a:t>DOL: faktor penuh</a:t>
            </a:r>
            <a:endParaRPr lang="en-US" sz="2000" dirty="0"/>
          </a:p>
        </p:txBody>
      </p:sp>
      <p:sp>
        <p:nvSpPr>
          <p:cNvPr id="12" name="Isi kesimpulan 2"/>
          <p:cNvSpPr txBox="1"/>
          <p:nvPr/>
        </p:nvSpPr>
        <p:spPr>
          <a:xfrm>
            <a:off x="6507328" y="2468880"/>
            <a:ext cx="4861408" cy="685800"/>
          </a:xfrm>
          <a:prstGeom prst="rect">
            <a:avLst/>
          </a:prstGeom>
          <a:noFill/>
          <a:ln/>
        </p:spPr>
        <p:txBody>
          <a:bodyPr wrap="square" lIns="0" tIns="0" rIns="0" bIns="0" rtlCol="0" anchor="t"/>
          <a:lstStyle/>
          <a:p>
            <a:pPr indent="0" marL="0">
              <a:buNone/>
            </a:pPr>
            <a:r>
              <a:rPr lang="en-US" sz="1600" dirty="0">
                <a:solidFill>
                  <a:schemeClr val="bg1"/>
                </a:solidFill>
              </a:rPr>
              <a:t>MCB ≈ 1,25 × I_FL, kontaktor ≥ I_FL, OLR disetel pada I_FL.</a:t>
            </a:r>
            <a:endParaRPr lang="en-US" sz="1600" dirty="0"/>
          </a:p>
        </p:txBody>
      </p:sp>
      <p:sp>
        <p:nvSpPr>
          <p:cNvPr id="13" name="Kartu kesimpulan 3"/>
          <p:cNvSpPr/>
          <p:nvPr/>
        </p:nvSpPr>
        <p:spPr>
          <a:xfrm>
            <a:off x="548640" y="3566160"/>
            <a:ext cx="5410048" cy="1828800"/>
          </a:xfrm>
          <a:prstGeom prst="roundRect">
            <a:avLst>
              <a:gd name="adj" fmla="val 6000"/>
            </a:avLst>
          </a:prstGeom>
          <a:solidFill>
            <a:schemeClr val="tx2"/>
          </a:solidFill>
          <a:ln/>
        </p:spPr>
      </p:sp>
      <p:sp>
        <p:nvSpPr>
          <p:cNvPr id="14" name="Kesimpulan 3 lingkaran"/>
          <p:cNvSpPr/>
          <p:nvPr/>
        </p:nvSpPr>
        <p:spPr>
          <a:xfrm>
            <a:off x="822960" y="3840480"/>
            <a:ext cx="548640" cy="548640"/>
          </a:xfrm>
          <a:prstGeom prst="ellipse">
            <a:avLst/>
          </a:prstGeom>
          <a:solidFill>
            <a:schemeClr val="accent1"/>
          </a:solidFill>
          <a:ln/>
        </p:spPr>
      </p:sp>
      <p:sp>
        <p:nvSpPr>
          <p:cNvPr id="15" name="Kesimpulan 3 angka"/>
          <p:cNvSpPr txBox="1"/>
          <p:nvPr/>
        </p:nvSpPr>
        <p:spPr>
          <a:xfrm>
            <a:off x="822960" y="3840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Judul kesimpulan 3"/>
          <p:cNvSpPr txBox="1"/>
          <p:nvPr/>
        </p:nvSpPr>
        <p:spPr>
          <a:xfrm>
            <a:off x="1554480" y="3840480"/>
            <a:ext cx="4129888" cy="548640"/>
          </a:xfrm>
          <a:prstGeom prst="rect">
            <a:avLst/>
          </a:prstGeom>
          <a:noFill/>
          <a:ln/>
        </p:spPr>
        <p:txBody>
          <a:bodyPr wrap="square" lIns="0" tIns="0" rIns="0" bIns="0" rtlCol="0" anchor="ctr"/>
          <a:lstStyle/>
          <a:p>
            <a:pPr indent="0" marL="0">
              <a:buNone/>
            </a:pPr>
            <a:r>
              <a:rPr lang="en-US" sz="2000" b="1" dirty="0">
                <a:solidFill>
                  <a:schemeClr val="bg1"/>
                </a:solidFill>
              </a:rPr>
              <a:t>Star-delta: arus terbagi</a:t>
            </a:r>
            <a:endParaRPr lang="en-US" sz="2000" dirty="0"/>
          </a:p>
        </p:txBody>
      </p:sp>
      <p:sp>
        <p:nvSpPr>
          <p:cNvPr id="17" name="Isi kesimpulan 3"/>
          <p:cNvSpPr txBox="1"/>
          <p:nvPr/>
        </p:nvSpPr>
        <p:spPr>
          <a:xfrm>
            <a:off x="822960" y="4572000"/>
            <a:ext cx="4861408" cy="685800"/>
          </a:xfrm>
          <a:prstGeom prst="rect">
            <a:avLst/>
          </a:prstGeom>
          <a:noFill/>
          <a:ln/>
        </p:spPr>
        <p:txBody>
          <a:bodyPr wrap="square" lIns="0" tIns="0" rIns="0" bIns="0" rtlCol="0" anchor="t"/>
          <a:lstStyle/>
          <a:p>
            <a:pPr indent="0" marL="0">
              <a:buNone/>
            </a:pPr>
            <a:r>
              <a:rPr lang="en-US" sz="1600" dirty="0">
                <a:solidFill>
                  <a:schemeClr val="bg1"/>
                </a:solidFill>
              </a:rPr>
              <a:t>K1, K3, dan OLR pada 0,58 × I_FL; K2 pada 0,33 × I_FL.</a:t>
            </a:r>
            <a:endParaRPr lang="en-US" sz="1600" dirty="0"/>
          </a:p>
        </p:txBody>
      </p:sp>
      <p:sp>
        <p:nvSpPr>
          <p:cNvPr id="18" name="Kartu kesimpulan 4"/>
          <p:cNvSpPr/>
          <p:nvPr/>
        </p:nvSpPr>
        <p:spPr>
          <a:xfrm>
            <a:off x="6233008" y="3566160"/>
            <a:ext cx="5410048" cy="1828800"/>
          </a:xfrm>
          <a:prstGeom prst="roundRect">
            <a:avLst>
              <a:gd name="adj" fmla="val 6000"/>
            </a:avLst>
          </a:prstGeom>
          <a:solidFill>
            <a:schemeClr val="tx2"/>
          </a:solidFill>
          <a:ln/>
        </p:spPr>
      </p:sp>
      <p:sp>
        <p:nvSpPr>
          <p:cNvPr id="19" name="Kesimpulan 4 lingkaran"/>
          <p:cNvSpPr/>
          <p:nvPr/>
        </p:nvSpPr>
        <p:spPr>
          <a:xfrm>
            <a:off x="6507328" y="3840480"/>
            <a:ext cx="548640" cy="548640"/>
          </a:xfrm>
          <a:prstGeom prst="ellipse">
            <a:avLst/>
          </a:prstGeom>
          <a:solidFill>
            <a:schemeClr val="accent1"/>
          </a:solidFill>
          <a:ln/>
        </p:spPr>
      </p:sp>
      <p:sp>
        <p:nvSpPr>
          <p:cNvPr id="20" name="Kesimpulan 4 angka"/>
          <p:cNvSpPr txBox="1"/>
          <p:nvPr/>
        </p:nvSpPr>
        <p:spPr>
          <a:xfrm>
            <a:off x="6507328" y="3840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1" name="Judul kesimpulan 4"/>
          <p:cNvSpPr txBox="1"/>
          <p:nvPr/>
        </p:nvSpPr>
        <p:spPr>
          <a:xfrm>
            <a:off x="7238848" y="3840480"/>
            <a:ext cx="4129888" cy="548640"/>
          </a:xfrm>
          <a:prstGeom prst="rect">
            <a:avLst/>
          </a:prstGeom>
          <a:noFill/>
          <a:ln/>
        </p:spPr>
        <p:txBody>
          <a:bodyPr wrap="square" lIns="0" tIns="0" rIns="0" bIns="0" rtlCol="0" anchor="ctr"/>
          <a:lstStyle/>
          <a:p>
            <a:pPr indent="0" marL="0">
              <a:buNone/>
            </a:pPr>
            <a:r>
              <a:rPr lang="en-US" sz="2000" b="1" dirty="0">
                <a:solidFill>
                  <a:schemeClr val="bg1"/>
                </a:solidFill>
              </a:rPr>
              <a:t>Cheat sheet = panduan cepat</a:t>
            </a:r>
            <a:endParaRPr lang="en-US" sz="2000" dirty="0"/>
          </a:p>
        </p:txBody>
      </p:sp>
      <p:sp>
        <p:nvSpPr>
          <p:cNvPr id="22" name="Isi kesimpulan 4"/>
          <p:cNvSpPr txBox="1"/>
          <p:nvPr/>
        </p:nvSpPr>
        <p:spPr>
          <a:xfrm>
            <a:off x="6507328" y="4572000"/>
            <a:ext cx="4861408" cy="685800"/>
          </a:xfrm>
          <a:prstGeom prst="rect">
            <a:avLst/>
          </a:prstGeom>
          <a:noFill/>
          <a:ln/>
        </p:spPr>
        <p:txBody>
          <a:bodyPr wrap="square" lIns="0" tIns="0" rIns="0" bIns="0" rtlCol="0" anchor="t"/>
          <a:lstStyle/>
          <a:p>
            <a:pPr indent="0" marL="0">
              <a:buNone/>
            </a:pPr>
            <a:r>
              <a:rPr lang="en-US" sz="1600" dirty="0">
                <a:solidFill>
                  <a:schemeClr val="bg1"/>
                </a:solidFill>
              </a:rPr>
              <a:t>Selalu verifikasi dengan nameplate, katalog, dan standar PUIL / IEC.</a:t>
            </a:r>
            <a:endParaRPr lang="en-US" sz="1600" dirty="0"/>
          </a:p>
        </p:txBody>
      </p:sp>
      <p:sp>
        <p:nvSpPr>
          <p:cNvPr id="23" name="Penutup"/>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2400" b="1" dirty="0">
                <a:solidFill>
                  <a:schemeClr val="accent1"/>
                </a:solidFill>
              </a:rPr>
              <a:t>Terima kasih · Pertemuan 5 · Tugas 4</a:t>
            </a:r>
            <a:endParaRPr lang="en-US" sz="2400" dirty="0"/>
          </a:p>
        </p:txBody>
      </p:sp>
      <p:sp>
        <p:nvSpPr>
          <p:cNvPr id="25" name="Slide Number Placeholder 0"/>
          <p:cNvSpPr>
            <a:spLocks noGrp="1"/>
          </p:cNvSpPr>
          <p:nvPr>
            <p:ph type="sldNum" sz="quarter" idx="4294967295"/>
          </p:nvPr>
        </p:nvSpPr>
        <p:spPr>
          <a:xfrm>
            <a:off x="11064240" y="6355080"/>
            <a:ext cx="5943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EB7C0"/>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izing Motor Listrik">
  <a:themeElements>
    <a:clrScheme name="Sizing Motor Listrik">
      <a:dk1>
        <a:srgbClr val="1F2933"/>
      </a:dk1>
      <a:lt1>
        <a:srgbClr val="FFFFFF"/>
      </a:lt1>
      <a:dk2>
        <a:srgbClr val="2D3E4D"/>
      </a:dk2>
      <a:lt2>
        <a:srgbClr val="EEF1F4"/>
      </a:lt2>
      <a:accent1>
        <a:srgbClr val="F5A623"/>
      </a:accent1>
      <a:accent2>
        <a:srgbClr val="0F766E"/>
      </a:accent2>
      <a:accent3>
        <a:srgbClr val="3E5C76"/>
      </a:accent3>
      <a:accent4>
        <a:srgbClr val="D1495B"/>
      </a:accent4>
      <a:accent5>
        <a:srgbClr val="5A6672"/>
      </a:accent5>
      <a:accent6>
        <a:srgbClr val="9AD1C7"/>
      </a:accent6>
      <a:hlink>
        <a:srgbClr val="0F766E"/>
      </a:hlink>
      <a:folHlink>
        <a:srgbClr val="5A6672"/>
      </a:folHlink>
    </a:clrScheme>
    <a:fontScheme name="Sizing Motor Listri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Perhitungan dan Sizing Komponen Sistem Kontrol Motor Listrik</dc:title>
  <dc:subject>PptxGenJS Presentation</dc:subject>
  <dc:creator>PptxGenJS</dc:creator>
  <cp:lastModifiedBy>PptxGenJS</cp:lastModifiedBy>
  <cp:revision>1</cp:revision>
  <dcterms:created xsi:type="dcterms:W3CDTF">2026-10-13T08:10:42Z</dcterms:created>
  <dcterms:modified xsi:type="dcterms:W3CDTF">2026-10-13T08:10:42Z</dcterms:modified>
</cp:coreProperties>
</file>